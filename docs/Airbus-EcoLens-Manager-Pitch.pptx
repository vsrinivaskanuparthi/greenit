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16f2a621e7434c" /><Relationship Type="http://schemas.openxmlformats.org/officeDocument/2006/relationships/extended-properties" Target="/docProps/app.xml" Id="Rb72ab83e946a4025" /><Relationship Type="http://schemas.openxmlformats.org/officeDocument/2006/relationships/officeDocument" Target="/ppt/presentation.xml" Id="Rab69b8aa6ccc4497" /></Relationships>
</file>

<file path=ppt/presentation.xml><?xml version="1.0" encoding="utf-8"?>
<p:presentation xmlns:p="http://schemas.openxmlformats.org/presentationml/2006/main">
  <p:sldMasterIdLst>
    <p:sldMasterId xmlns:r="http://schemas.openxmlformats.org/officeDocument/2006/relationships" id="2147483648" r:id="R60f0bc80d46a4630"/>
  </p:sldMasterIdLst>
  <p:notesMasterIdLst>
    <p:notesMasterId xmlns:r="http://schemas.openxmlformats.org/officeDocument/2006/relationships" r:id="R80cc39b1b4d44fe3"/>
  </p:notesMasterIdLst>
  <p:sldIdLst>
    <p:sldId xmlns:r="http://schemas.openxmlformats.org/officeDocument/2006/relationships" id="256" r:id="R83081305175f4e92"/>
    <p:sldId xmlns:r="http://schemas.openxmlformats.org/officeDocument/2006/relationships" id="257" r:id="Re93ecb502b7e42e2"/>
    <p:sldId xmlns:r="http://schemas.openxmlformats.org/officeDocument/2006/relationships" id="258" r:id="R10c3120155be499a"/>
    <p:sldId xmlns:r="http://schemas.openxmlformats.org/officeDocument/2006/relationships" id="259" r:id="R4e5be817c0024791"/>
    <p:sldId xmlns:r="http://schemas.openxmlformats.org/officeDocument/2006/relationships" id="260" r:id="Ra07bbe3d2fcf4bd0"/>
    <p:sldId xmlns:r="http://schemas.openxmlformats.org/officeDocument/2006/relationships" id="261" r:id="Raa5ec2bafb66413d"/>
    <p:sldId xmlns:r="http://schemas.openxmlformats.org/officeDocument/2006/relationships" id="262" r:id="R8793704642534420"/>
    <p:sldId xmlns:r="http://schemas.openxmlformats.org/officeDocument/2006/relationships" id="263" r:id="R29bae052f26a4444"/>
    <p:sldId xmlns:r="http://schemas.openxmlformats.org/officeDocument/2006/relationships" id="264" r:id="R3959df3a8da546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d78854e3334026" /><Relationship Type="http://schemas.openxmlformats.org/officeDocument/2006/relationships/slideMaster" Target="/ppt/slideMasters/slideMaster1.xml" Id="R60f0bc80d46a4630" /><Relationship Type="http://schemas.openxmlformats.org/officeDocument/2006/relationships/notesMaster" Target="/ppt/notesMasters/notesMaster1.xml" Id="R80cc39b1b4d44fe3" /><Relationship Type="http://schemas.openxmlformats.org/officeDocument/2006/relationships/presProps" Target="/ppt/presProps.xml" Id="Rd419c4c039f14b59" /><Relationship Type="http://schemas.openxmlformats.org/officeDocument/2006/relationships/tableStyles" Target="/ppt/tableStyles.xml" Id="R89fc3654d8394783" /><Relationship Type="http://schemas.openxmlformats.org/officeDocument/2006/relationships/slide" Target="/ppt/slides/slide1.xml" Id="R83081305175f4e92" /><Relationship Type="http://schemas.openxmlformats.org/officeDocument/2006/relationships/slide" Target="/ppt/slides/slide2.xml" Id="Re93ecb502b7e42e2" /><Relationship Type="http://schemas.openxmlformats.org/officeDocument/2006/relationships/slide" Target="/ppt/slides/slide3.xml" Id="R10c3120155be499a" /><Relationship Type="http://schemas.openxmlformats.org/officeDocument/2006/relationships/slide" Target="/ppt/slides/slide4.xml" Id="R4e5be817c0024791" /><Relationship Type="http://schemas.openxmlformats.org/officeDocument/2006/relationships/slide" Target="/ppt/slides/slide5.xml" Id="Ra07bbe3d2fcf4bd0" /><Relationship Type="http://schemas.openxmlformats.org/officeDocument/2006/relationships/slide" Target="/ppt/slides/slide6.xml" Id="Raa5ec2bafb66413d" /><Relationship Type="http://schemas.openxmlformats.org/officeDocument/2006/relationships/slide" Target="/ppt/slides/slide7.xml" Id="R8793704642534420" /><Relationship Type="http://schemas.openxmlformats.org/officeDocument/2006/relationships/slide" Target="/ppt/slides/slide8.xml" Id="R29bae052f26a4444" /><Relationship Type="http://schemas.openxmlformats.org/officeDocument/2006/relationships/slide" Target="/ppt/slides/slide9.xml" Id="R3959df3a8da546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ddfed6d4154b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ba50e990094ce2" /><Relationship Type="http://schemas.openxmlformats.org/officeDocument/2006/relationships/notesMaster" Target="/ppt/notesMasters/notesMaster1.xml" Id="R103817217fd647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bc6ef8390b4f34" /><Relationship Type="http://schemas.openxmlformats.org/officeDocument/2006/relationships/notesMaster" Target="/ppt/notesMasters/notesMaster1.xml" Id="R9abe1e8e19e340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52b79befeb4ca5" /><Relationship Type="http://schemas.openxmlformats.org/officeDocument/2006/relationships/notesMaster" Target="/ppt/notesMasters/notesMaster1.xml" Id="Rf7a0473c37c84e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9607f536134337" /><Relationship Type="http://schemas.openxmlformats.org/officeDocument/2006/relationships/notesMaster" Target="/ppt/notesMasters/notesMaster1.xml" Id="R1bac695227604b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27d9b051554a39" /><Relationship Type="http://schemas.openxmlformats.org/officeDocument/2006/relationships/notesMaster" Target="/ppt/notesMasters/notesMaster1.xml" Id="R6454d3443bf049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e425e17a904094" /><Relationship Type="http://schemas.openxmlformats.org/officeDocument/2006/relationships/notesMaster" Target="/ppt/notesMasters/notesMaster1.xml" Id="Rf97816725bb849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e7ec37fc144038" /><Relationship Type="http://schemas.openxmlformats.org/officeDocument/2006/relationships/notesMaster" Target="/ppt/notesMasters/notesMaster1.xml" Id="R5888ea0becf04a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74a99a83ae4588" /><Relationship Type="http://schemas.openxmlformats.org/officeDocument/2006/relationships/notesMaster" Target="/ppt/notesMasters/notesMaster1.xml" Id="R5e1b697f42364b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4d109c200d40ab" /><Relationship Type="http://schemas.openxmlformats.org/officeDocument/2006/relationships/notesMaster" Target="/ppt/notesMasters/notesMaster1.xml" Id="R567adc6f81904c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Manager briefing based on the user-supplied caching benchmark collected 2 October 2026 at 15:51:28. This replaces the earlier transfer example. No updated application implementation is assumed. Decorative background is AI-generated.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in plain language: source code does not emit carbon by itself. Running software uses computing resources and electricity. The prototype checks selected patterns, then demonstrates a measured comparison on a trusted example. It does not measure all application 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parser reads code structure. Our custom rules look for selected patterns and locations. They do not assign carbon to each line. No claim of arbitrary upload execution or universal code coverage. The reported scanner, test runner and reporting workflow are EcoLens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JSON.parse(fs.readFileSync(referenceFile, utf8)) runs inside the Express handler. After: it runs once at module startup outside the handler. Both versions serialise responses. Restart after changing reference-data.json. Each process holds its own copy. The handler must not mutate shared cached data. OS file caching may already avoid physical disk reads. Source: user-pasted report, 2 October 2026 at 15:51:28.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benchmark collected 2 October 2026 15:51:28. Mean target elapsed 870.47 ms before and 656.7 ms after. Reduction using displayed values is 24.56%, rounded to 24.6%. Six repetitions per version, 10,000 requests per batch, concurrency 8, 500 warm-up requests per fresh process, alternating before/after order. Each successful response matched expected status and the same 790-byte body. Zero measured and warm-up failures reported. Not a general performance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fixed-allocation-time v1.0.0. Original figures: before 0.000096719 gCO2e per 1,000, after 0.000072966 gCO2e per 1,000. Multiply grams by 1,000,000 to get micrograms: 96.719 and 72.966. Reported reduction 24.558%, displayed 24.6%. Power allocation 10 W and electricity factor 400 gCO2e/kWh are illustrative assumptions. Lower estimate follows batch duration, not measured electricity savings. CO2.js does not calculate this compute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report explicitly says CO2.js is not applied automatically to this loopback test. Both versions return 790-byte responses and total 47,400,000 response-body bytes over 60,000 successful requests. A transfer calculation using identical bytes and settings would not show a transfer reduction. Keep separate estimate boundaries separate and do not sum overlapping estimates. CO2.js overview: https://developers.thegreenwebfoundation.org/co2js/overview/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Airbus financial or emissions savings have been measured. Faster processing alone does not guarantee a lower bill or lower electricity consumption, especially when infrastructure remains provisioned. A pilot should establish workload equivalence, real resource effects and actual billing conditions. Broader execution, authentication and production controls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report, 2 October 2026 15:51:28. kWh = assumed W × target elapsed ms / 3,600,000,000. gCO2e = kWh × 400. Per 1,000 = gCO2e × 1,000 / successful requests. Boundary includes hypothetical operational compute allocation during warmed target-process batch only. Excludes startup/cache loading, warm-up, idle outside batch, load-generator energy, storage, network, cooling/PUE, embodied hardware and the rest of lifecycle. No complete SCI claim. Formula reference supplied by report: https://sci.greensoftware.foundation/ . CPU mean before/after 1,131.2/896.51 ms. Sampled peak RSS 115.91/117.02 MiB. Heap at end 10.94/36.312 MiB. Memory varies with garbage collection and cannot isolate the cache. Raw carbon before range 0.000094409–0.00010384 g, SD 0.0000032522 g; after range 0.000070836–0.000078099 g, SD 0.0000024894 g, all per 1,000 successful requests. This is a snapshot of supplied results,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751abdc8284a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e9ba044ad341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b1c96c695c46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a89f012cc647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c716fe28e14b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fc32ccfeb34a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AA948DB-EE5A-44F2-A773-9F6D7A046A2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F9038C7-6F0F-4371-BE30-2F0FE358F3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9C4EF32-6F9F-4736-AC7B-BBDA839D37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C18E240-70ED-4D8D-88DB-24E4E9BBADD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9E1415F-71FF-4CB3-990A-DAA0385592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68485EC-1343-49B9-839C-B2FC7FE1089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923CBA4-7105-4315-BC6C-385B06BC55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B82C850-D342-4C4D-A8AA-C4E051558E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84D8E74-ED42-46A6-955E-9EB8F8CC7D0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5E1E47B-D7E5-407E-B9E4-6355833A34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845C371-A489-4675-8DB1-1D007324C3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6AE7A9F-926B-45A2-92DF-9D5867C02E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363A1FC-6D92-44F0-B7FF-47C6666E3F3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844DC37-98D8-41F2-9C29-5239937336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EA6589F-019F-4B6F-84CF-952D07E114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d1db95168e47d3" /><Relationship Type="http://schemas.openxmlformats.org/officeDocument/2006/relationships/slideLayout" Target="/ppt/slideLayouts/slideLayout1.xml" Id="R7360ddd76d8b4ccb" /><Relationship Type="http://schemas.openxmlformats.org/officeDocument/2006/relationships/slideLayout" Target="/ppt/slideLayouts/slideLayout2.xml" Id="Rd2664514b8b647a7" /><Relationship Type="http://schemas.openxmlformats.org/officeDocument/2006/relationships/slideLayout" Target="/ppt/slideLayouts/slideLayout3.xml" Id="R78486ce0af874982" /><Relationship Type="http://schemas.openxmlformats.org/officeDocument/2006/relationships/slideLayout" Target="/ppt/slideLayouts/slideLayout4.xml" Id="R22e66d72fb0b40ee" /><Relationship Type="http://schemas.openxmlformats.org/officeDocument/2006/relationships/slideLayout" Target="/ppt/slideLayouts/slideLayout5.xml" Id="R6f331e92e15a491f" /><Relationship Type="http://schemas.openxmlformats.org/officeDocument/2006/relationships/slideLayout" Target="/ppt/slideLayouts/slideLayout6.xml" Id="R90b043b16dd442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60ddd76d8b4ccb"/>
    <p:sldLayoutId xmlns:r="http://schemas.openxmlformats.org/officeDocument/2006/relationships" id="2147483650" r:id="Rd2664514b8b647a7"/>
    <p:sldLayoutId xmlns:r="http://schemas.openxmlformats.org/officeDocument/2006/relationships" id="2147483651" r:id="R78486ce0af874982"/>
    <p:sldLayoutId xmlns:r="http://schemas.openxmlformats.org/officeDocument/2006/relationships" id="2147483652" r:id="R22e66d72fb0b40ee"/>
    <p:sldLayoutId xmlns:r="http://schemas.openxmlformats.org/officeDocument/2006/relationships" id="2147483653" r:id="R6f331e92e15a491f"/>
    <p:sldLayoutId xmlns:r="http://schemas.openxmlformats.org/officeDocument/2006/relationships" id="2147483654" r:id="R90b043b16dd442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7f6dc45eee41cb" /><Relationship Type="http://schemas.openxmlformats.org/officeDocument/2006/relationships/image" Target="/ppt/media/image.png" Id="R92dac000ec6a4e4a" /><Relationship Type="http://schemas.openxmlformats.org/officeDocument/2006/relationships/notesSlide" Target="/ppt/notesSlides/notesSlide1.xml" Id="Raaf53129432a4f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292b27f38a457a" /><Relationship Type="http://schemas.openxmlformats.org/officeDocument/2006/relationships/notesSlide" Target="/ppt/notesSlides/notesSlide2.xml" Id="R5ceb1093f8844a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29503c29f349ae" /><Relationship Type="http://schemas.openxmlformats.org/officeDocument/2006/relationships/notesSlide" Target="/ppt/notesSlides/notesSlide3.xml" Id="Reddf1306f36845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6fd140394d4a3e" /><Relationship Type="http://schemas.openxmlformats.org/officeDocument/2006/relationships/notesSlide" Target="/ppt/notesSlides/notesSlide4.xml" Id="R2c76e698705448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21991210e04b45" /><Relationship Type="http://schemas.openxmlformats.org/officeDocument/2006/relationships/chart" Target="/ppt/slides/charts/chart1.xml" Id="R173d2e96cfd14815" /><Relationship Type="http://schemas.openxmlformats.org/officeDocument/2006/relationships/notesSlide" Target="/ppt/notesSlides/notesSlide5.xml" Id="R8a2789b6e44648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7e511f4dc841a6" /><Relationship Type="http://schemas.openxmlformats.org/officeDocument/2006/relationships/notesSlide" Target="/ppt/notesSlides/notesSlide6.xml" Id="Rd21cfd4313614b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f2fc9c0d7540a6" /><Relationship Type="http://schemas.openxmlformats.org/officeDocument/2006/relationships/notesSlide" Target="/ppt/notesSlides/notesSlide7.xml" Id="R75662d4ce24744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ddc6115cc24cba" /><Relationship Type="http://schemas.openxmlformats.org/officeDocument/2006/relationships/notesSlide" Target="/ppt/notesSlides/notesSlide8.xml" Id="R4cf9c1369bbb47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f7eb118a1c46a1" /><Relationship Type="http://schemas.openxmlformats.org/officeDocument/2006/relationships/notesSlide" Target="/ppt/notesSlides/notesSlide9.xml" Id="Re40d8290c7dd4a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Batch duration (ms)</c:v>
          </c:tx>
          <c:spPr>
            <a:solidFill xmlns:a="http://schemas.openxmlformats.org/drawingml/2006/main">
              <a:srgbClr val="005EB8"/>
            </a:solidFill>
          </c:spPr>
          <c:dPt>
            <c:idx val="1"/>
            <c:invertIfNegative val="0"/>
            <c:spPr>
              <a:solidFill xmlns:a="http://schemas.openxmlformats.org/drawingml/2006/main">
                <a:srgbClr val="159B7B"/>
              </a:solidFill>
            </c:spPr>
          </c:dPt>
          <c:cat>
            <c:strRef>
              <c:f>'Chart Data'!$A$2:$A$3</c:f>
              <c:strCache>
                <c:ptCount val="2"/>
                <c:pt idx="0">
                  <c:v>Before</c:v>
                </c:pt>
                <c:pt idx="1">
                  <c:v>After</c:v>
                </c:pt>
              </c:strCache>
            </c:strRef>
          </c:cat>
          <c:val>
            <c:numRef>
              <c:f>'Chart Data'!$B$2:$B$3</c:f>
              <c:numCache>
                <c:formatCode>General</c:formatCode>
                <c:ptCount val="2"/>
                <c:pt idx="0">
                  <c:v>870.47</c:v>
                </c:pt>
                <c:pt idx="1">
                  <c:v>656.7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00205B"/>
                  </a:solidFill>
                  <a:latin typeface="Nimbus Sans"/>
                  <a:ea typeface="Nimbus Sans"/>
                  <a:cs typeface="Nimbus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6078"/>
                </a:solidFill>
                <a:latin typeface="Nimbus Sans"/>
                <a:ea typeface="Nimbus Sans"/>
                <a:cs typeface="Nimbus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00205B"/>
                </a:solidFill>
                <a:latin typeface="Nimbus Sans"/>
                <a:ea typeface="Nimbus Sans"/>
                <a:cs typeface="Nimbus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205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2dac000ec6a4e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518835-31A6-4735-8537-F65D374245CA}"/>
              </a:ext>
            </a:extLst>
          </p:cNvPr>
          <p:cNvSpPr>
            <a:spLocks xmlns:a="http://schemas.openxmlformats.org/drawingml/2006/main" noGrp="1"/>
          </p:cNvSpPr>
          <p:nvPr/>
        </p:nvSpPr>
        <p:spPr>
          <a:xfrm xmlns:a="http://schemas.openxmlformats.org/drawingml/2006/main">
            <a:off x="609600" y="15240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Nimbus Sans"/>
                <a:ea typeface="Nimbus Sans"/>
                <a:cs typeface="Nimbus Sans"/>
              </a:defRPr>
            </a:pPr>
            <a:r>
              <a:rPr sz="4800" b="1">
                <a:solidFill>
                  <a:srgbClr val="FFFFFF"/>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243B5C56-984C-450A-8AC3-54E6EF9633F3}"/>
              </a:ext>
            </a:extLst>
          </p:cNvPr>
          <p:cNvSpPr>
            <a:spLocks xmlns:a="http://schemas.openxmlformats.org/drawingml/2006/main" noGrp="1"/>
          </p:cNvSpPr>
          <p:nvPr/>
        </p:nvSpPr>
        <p:spPr>
          <a:xfrm xmlns:a="http://schemas.openxmlformats.org/drawingml/2006/main">
            <a:off x="647700" y="2762250"/>
            <a:ext cx="571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C5E4F7"/>
                </a:solidFill>
                <a:latin typeface="Nimbus Sans"/>
                <a:ea typeface="Nimbus Sans"/>
                <a:cs typeface="Nimbus Sans"/>
              </a:defRPr>
            </a:pPr>
            <a:r>
              <a:rPr sz="2850" b="0">
                <a:solidFill>
                  <a:srgbClr val="C5E4F7"/>
                </a:solidFill>
                <a:latin typeface="Nimbus Sans"/>
                <a:ea typeface="Nimbus Sans"/>
                <a:cs typeface="Nimbus Sans"/>
              </a:rPr>
              <a:t>Less repeated work.</a:t>
            </a:r>
          </a:p>
          <a:p xmlns:a="http://schemas.openxmlformats.org/drawingml/2006/main">
            <a:pPr>
              <a:defRPr sz="2850" b="0">
                <a:solidFill>
                  <a:srgbClr val="C5E4F7"/>
                </a:solidFill>
                <a:latin typeface="Nimbus Sans"/>
                <a:ea typeface="Nimbus Sans"/>
                <a:cs typeface="Nimbus Sans"/>
              </a:defRPr>
            </a:pPr>
            <a:r>
              <a:rPr sz="2850" b="0">
                <a:solidFill>
                  <a:srgbClr val="C5E4F7"/>
                </a:solidFill>
                <a:latin typeface="Nimbus Sans"/>
                <a:ea typeface="Nimbus Sans"/>
                <a:cs typeface="Nimbus Sans"/>
              </a:rPr>
              <a:t>Clearer carbon estimates.</a:t>
            </a:r>
          </a:p>
        </p:txBody>
      </p:sp>
      <p:sp>
        <p:nvSpPr>
          <p:cNvPr id="4" name="">
            <a:extLst xmlns:a="http://schemas.openxmlformats.org/drawingml/2006/main">
              <a:ext uri="{FF2B5EF4-FFF2-40B4-BE49-F238E27FC236}">
                <a16:creationId xmlns:a16="http://schemas.microsoft.com/office/drawing/2014/main" id="{675B6E64-AE48-44CE-8224-CAD7C3AB5C7E}"/>
              </a:ext>
            </a:extLst>
          </p:cNvPr>
          <p:cNvSpPr>
            <a:spLocks xmlns:a="http://schemas.openxmlformats.org/drawingml/2006/main" noGrp="1"/>
          </p:cNvSpPr>
          <p:nvPr/>
        </p:nvSpPr>
        <p:spPr>
          <a:xfrm xmlns:a="http://schemas.openxmlformats.org/drawingml/2006/main">
            <a:off x="647700" y="58102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6CFED"/>
                </a:solidFill>
                <a:latin typeface="Nimbus Sans"/>
                <a:ea typeface="Nimbus Sans"/>
                <a:cs typeface="Nimbus Sans"/>
              </a:defRPr>
            </a:pPr>
            <a:r>
              <a:rPr sz="1650" b="0">
                <a:solidFill>
                  <a:srgbClr val="B6CFED"/>
                </a:solidFill>
                <a:latin typeface="Nimbus Sans"/>
                <a:ea typeface="Nimbus Sans"/>
                <a:cs typeface="Nimbus Sans"/>
              </a:rPr>
              <a:t>Srinivas Kanuparthi</a:t>
            </a:r>
          </a:p>
        </p:txBody>
      </p:sp>
    </p:spTree>
    <p:extLst>
      <p:ext uri="{BB962C8B-B14F-4D97-AF65-F5344CB8AC3E}">
        <p14:creationId xmlns:p14="http://schemas.microsoft.com/office/powerpoint/2010/main" val="6168628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D4143D-DB97-4AED-BB6E-CAF0BE3E05DC}"/>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The problem we address</a:t>
            </a:r>
          </a:p>
        </p:txBody>
      </p:sp>
      <p:sp>
        <p:nvSpPr>
          <p:cNvPr id="2" name="">
            <a:extLst xmlns:a="http://schemas.openxmlformats.org/drawingml/2006/main">
              <a:ext uri="{FF2B5EF4-FFF2-40B4-BE49-F238E27FC236}">
                <a16:creationId xmlns:a16="http://schemas.microsoft.com/office/drawing/2014/main" id="{6553D9DE-5613-4108-9121-6A9F08CA8912}"/>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C73B42F9-E96E-4612-AE80-3A7CB2645BF2}"/>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02</a:t>
            </a:r>
          </a:p>
        </p:txBody>
      </p:sp>
      <p:sp>
        <p:nvSpPr>
          <p:cNvPr id="4" name="">
            <a:extLst xmlns:a="http://schemas.openxmlformats.org/drawingml/2006/main">
              <a:ext uri="{FF2B5EF4-FFF2-40B4-BE49-F238E27FC236}">
                <a16:creationId xmlns:a16="http://schemas.microsoft.com/office/drawing/2014/main" id="{41AD4E29-4C72-45BC-A34E-8C7C721597A8}"/>
              </a:ext>
            </a:extLst>
          </p:cNvPr>
          <p:cNvSpPr>
            <a:spLocks xmlns:a="http://schemas.openxmlformats.org/drawingml/2006/main" noGrp="1"/>
          </p:cNvSpPr>
          <p:nvPr/>
        </p:nvSpPr>
        <p:spPr>
          <a:xfrm xmlns:a="http://schemas.openxmlformats.org/drawingml/2006/main">
            <a:off x="666750" y="171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Applications can repeat unnecessary work</a:t>
            </a:r>
          </a:p>
        </p:txBody>
      </p:sp>
      <p:sp>
        <p:nvSpPr>
          <p:cNvPr id="5" name="">
            <a:extLst xmlns:a="http://schemas.openxmlformats.org/drawingml/2006/main">
              <a:ext uri="{FF2B5EF4-FFF2-40B4-BE49-F238E27FC236}">
                <a16:creationId xmlns:a16="http://schemas.microsoft.com/office/drawing/2014/main" id="{9A6C1ABD-5A58-4DCF-88E3-249CE9C4DBA9}"/>
              </a:ext>
            </a:extLst>
          </p:cNvPr>
          <p:cNvSpPr>
            <a:spLocks xmlns:a="http://schemas.openxmlformats.org/drawingml/2006/main" noGrp="1"/>
          </p:cNvSpPr>
          <p:nvPr/>
        </p:nvSpPr>
        <p:spPr>
          <a:xfrm xmlns:a="http://schemas.openxmlformats.org/drawingml/2006/main">
            <a:off x="857250" y="21526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For example, reading and processing the same file on every request.</a:t>
            </a:r>
          </a:p>
        </p:txBody>
      </p:sp>
      <p:sp>
        <p:nvSpPr>
          <p:cNvPr id="6" name="">
            <a:extLst xmlns:a="http://schemas.openxmlformats.org/drawingml/2006/main">
              <a:ext uri="{FF2B5EF4-FFF2-40B4-BE49-F238E27FC236}">
                <a16:creationId xmlns:a16="http://schemas.microsoft.com/office/drawing/2014/main" id="{12724772-EC0D-4987-A16E-8F97A55275A8}"/>
              </a:ext>
            </a:extLst>
          </p:cNvPr>
          <p:cNvSpPr>
            <a:spLocks xmlns:a="http://schemas.openxmlformats.org/drawingml/2006/main" noGrp="1"/>
          </p:cNvSpPr>
          <p:nvPr/>
        </p:nvSpPr>
        <p:spPr>
          <a:xfrm xmlns:a="http://schemas.openxmlformats.org/drawingml/2006/main">
            <a:off x="666750" y="3048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Developers need evidence to prioritise a change</a:t>
            </a:r>
          </a:p>
        </p:txBody>
      </p:sp>
      <p:sp>
        <p:nvSpPr>
          <p:cNvPr id="7" name="">
            <a:extLst xmlns:a="http://schemas.openxmlformats.org/drawingml/2006/main">
              <a:ext uri="{FF2B5EF4-FFF2-40B4-BE49-F238E27FC236}">
                <a16:creationId xmlns:a16="http://schemas.microsoft.com/office/drawing/2014/main" id="{DD496D83-CFAF-4429-844B-1F85B63A2060}"/>
              </a:ext>
            </a:extLst>
          </p:cNvPr>
          <p:cNvSpPr>
            <a:spLocks xmlns:a="http://schemas.openxmlformats.org/drawingml/2006/main" noGrp="1"/>
          </p:cNvSpPr>
          <p:nvPr/>
        </p:nvSpPr>
        <p:spPr>
          <a:xfrm xmlns:a="http://schemas.openxmlformats.org/drawingml/2006/main">
            <a:off x="857250" y="34861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A code finding is useful. Testing shows whether the change helps.</a:t>
            </a:r>
          </a:p>
        </p:txBody>
      </p:sp>
      <p:sp>
        <p:nvSpPr>
          <p:cNvPr id="8" name="">
            <a:extLst xmlns:a="http://schemas.openxmlformats.org/drawingml/2006/main">
              <a:ext uri="{FF2B5EF4-FFF2-40B4-BE49-F238E27FC236}">
                <a16:creationId xmlns:a16="http://schemas.microsoft.com/office/drawing/2014/main" id="{D6F6695A-B536-4E68-80EA-F198B35DE5FC}"/>
              </a:ext>
            </a:extLst>
          </p:cNvPr>
          <p:cNvSpPr>
            <a:spLocks xmlns:a="http://schemas.openxmlformats.org/drawingml/2006/main" noGrp="1"/>
          </p:cNvSpPr>
          <p:nvPr/>
        </p:nvSpPr>
        <p:spPr>
          <a:xfrm xmlns:a="http://schemas.openxmlformats.org/drawingml/2006/main">
            <a:off x="666750" y="4381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Carbon impact needs an explanation</a:t>
            </a:r>
          </a:p>
        </p:txBody>
      </p:sp>
      <p:sp>
        <p:nvSpPr>
          <p:cNvPr id="9" name="">
            <a:extLst xmlns:a="http://schemas.openxmlformats.org/drawingml/2006/main">
              <a:ext uri="{FF2B5EF4-FFF2-40B4-BE49-F238E27FC236}">
                <a16:creationId xmlns:a16="http://schemas.microsoft.com/office/drawing/2014/main" id="{0B74F7E7-31B4-40B7-8F80-7EA490B1AE80}"/>
              </a:ext>
            </a:extLst>
          </p:cNvPr>
          <p:cNvSpPr>
            <a:spLocks xmlns:a="http://schemas.openxmlformats.org/drawingml/2006/main" noGrp="1"/>
          </p:cNvSpPr>
          <p:nvPr/>
        </p:nvSpPr>
        <p:spPr>
          <a:xfrm xmlns:a="http://schemas.openxmlformats.org/drawingml/2006/main">
            <a:off x="857250" y="48196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Software uses electricity. The emissions depend on how that electricity is supplied.</a:t>
            </a:r>
          </a:p>
        </p:txBody>
      </p:sp>
    </p:spTree>
    <p:extLst>
      <p:ext uri="{BB962C8B-B14F-4D97-AF65-F5344CB8AC3E}">
        <p14:creationId xmlns:p14="http://schemas.microsoft.com/office/powerpoint/2010/main" val="1096797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67E590-74F7-4555-A8A8-5B39294EC5AF}"/>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What Airbus EcoLens does</a:t>
            </a:r>
          </a:p>
        </p:txBody>
      </p:sp>
      <p:sp>
        <p:nvSpPr>
          <p:cNvPr id="2" name="">
            <a:extLst xmlns:a="http://schemas.openxmlformats.org/drawingml/2006/main">
              <a:ext uri="{FF2B5EF4-FFF2-40B4-BE49-F238E27FC236}">
                <a16:creationId xmlns:a16="http://schemas.microsoft.com/office/drawing/2014/main" id="{E3F16CDC-BBAC-4310-91CF-7085533A1248}"/>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AA4B852F-2B4D-4D96-8305-B74E71058926}"/>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03</a:t>
            </a:r>
          </a:p>
        </p:txBody>
      </p:sp>
      <p:graphicFrame>
        <p:nvGraphicFramePr>
          <p:cNvPr id="9" name=""/>
          <p:cNvGraphicFramePr/>
          <p:nvPr/>
        </p:nvGraphicFramePr>
        <p:xfrm>
          <a:off xmlns:a="http://schemas.openxmlformats.org/drawingml/2006/main" x="666750" y="1619250"/>
          <a:ext xmlns:a="http://schemas.openxmlformats.org/drawingml/2006/main" cx="10820400" cy="3619500"/>
        </p:xfrm>
        <a:graphic xmlns:a="http://schemas.openxmlformats.org/drawingml/2006/main">
          <a:graphicData uri="http://schemas.openxmlformats.org/drawingml/2006/table">
            <a:tbl>
              <a:tblPr/>
              <a:tblGrid>
                <a:gridCol w="3429000"/>
                <a:gridCol w="7391400"/>
              </a:tblGrid>
              <a:tr h="723900">
                <a:tc>
                  <a:txBody>
                    <a:bodyPr/>
                    <a:lstStyle/>
                    <a:p>
                      <a:r>
                        <a:rPr sz="1875" b="1">
                          <a:solidFill>
                            <a:srgbClr val="FFFFFF"/>
                          </a:solidFill>
                          <a:latin typeface="Nimbus Sans"/>
                          <a:ea typeface="Nimbus Sans"/>
                          <a:cs typeface="Nimbus Sans"/>
                        </a:rPr>
                        <a:t>Step</a:t>
                      </a:r>
                    </a:p>
                  </a:txBody>
                  <a:tcPr marL="91440" marR="91440" marT="45720" marB="45720">
                    <a:solidFill>
                      <a:srgbClr val="00205B"/>
                    </a:solidFill>
                  </a:tcPr>
                </a:tc>
                <a:tc>
                  <a:txBody>
                    <a:bodyPr/>
                    <a:lstStyle/>
                    <a:p>
                      <a:r>
                        <a:rPr sz="1875" b="1">
                          <a:solidFill>
                            <a:srgbClr val="FFFFFF"/>
                          </a:solidFill>
                          <a:latin typeface="Nimbus Sans"/>
                          <a:ea typeface="Nimbus Sans"/>
                          <a:cs typeface="Nimbus Sans"/>
                        </a:rPr>
                        <a:t>What the developer sees</a:t>
                      </a:r>
                    </a:p>
                  </a:txBody>
                  <a:tcPr marL="91440" marR="91440" marT="45720" marB="45720">
                    <a:solidFill>
                      <a:srgbClr val="00205B"/>
                    </a:solidFill>
                  </a:tcPr>
                </a:tc>
              </a:tr>
              <a:tr h="723900">
                <a:tc>
                  <a:txBody>
                    <a:bodyPr/>
                    <a:lstStyle/>
                    <a:p>
                      <a:r>
                        <a:rPr sz="1800" b="1">
                          <a:solidFill>
                            <a:srgbClr val="005EB8"/>
                          </a:solidFill>
                          <a:latin typeface="Nimbus Sans"/>
                          <a:ea typeface="Nimbus Sans"/>
                          <a:cs typeface="Nimbus Sans"/>
                        </a:rPr>
                        <a:t>1. Check code</a:t>
                      </a:r>
                    </a:p>
                  </a:txBody>
                  <a:tcPr marL="91440" marR="91440" marT="45720" marB="45720">
                    <a:solidFill>
                      <a:srgbClr val="F0F5FA"/>
                    </a:solidFill>
                  </a:tcPr>
                </a:tc>
                <a:tc>
                  <a:txBody>
                    <a:bodyPr/>
                    <a:lstStyle/>
                    <a:p>
                      <a:r>
                        <a:rPr sz="1800" b="0">
                          <a:solidFill>
                            <a:srgbClr val="00205B"/>
                          </a:solidFill>
                          <a:latin typeface="Nimbus Sans"/>
                          <a:ea typeface="Nimbus Sans"/>
                          <a:cs typeface="Nimbus Sans"/>
                        </a:rPr>
                        <a:t>Selected patterns that may cause unnecessary work</a:t>
                      </a:r>
                    </a:p>
                  </a:txBody>
                  <a:tcPr marL="91440" marR="91440" marT="45720" marB="45720">
                    <a:solidFill>
                      <a:srgbClr val="F0F5FA"/>
                    </a:solidFill>
                  </a:tcPr>
                </a:tc>
              </a:tr>
              <a:tr h="723900">
                <a:tc>
                  <a:txBody>
                    <a:bodyPr/>
                    <a:lstStyle/>
                    <a:p>
                      <a:r>
                        <a:rPr sz="1800" b="1">
                          <a:solidFill>
                            <a:srgbClr val="005EB8"/>
                          </a:solidFill>
                          <a:latin typeface="Nimbus Sans"/>
                          <a:ea typeface="Nimbus Sans"/>
                          <a:cs typeface="Nimbus Sans"/>
                        </a:rPr>
                        <a:t>2. Review a suggestion</a:t>
                      </a:r>
                    </a:p>
                  </a:txBody>
                  <a:tcPr marL="91440" marR="91440" marT="45720" marB="45720">
                    <a:solidFill>
                      <a:srgbClr val="FFFFFF"/>
                    </a:solidFill>
                  </a:tcPr>
                </a:tc>
                <a:tc>
                  <a:txBody>
                    <a:bodyPr/>
                    <a:lstStyle/>
                    <a:p>
                      <a:r>
                        <a:rPr sz="1800" b="0">
                          <a:solidFill>
                            <a:srgbClr val="00205B"/>
                          </a:solidFill>
                          <a:latin typeface="Nimbus Sans"/>
                          <a:ea typeface="Nimbus Sans"/>
                          <a:cs typeface="Nimbus Sans"/>
                        </a:rPr>
                        <a:t>A proposed change and its trade-offs</a:t>
                      </a:r>
                    </a:p>
                  </a:txBody>
                  <a:tcPr marL="91440" marR="91440" marT="45720" marB="45720">
                    <a:solidFill>
                      <a:srgbClr val="FFFFFF"/>
                    </a:solidFill>
                  </a:tcPr>
                </a:tc>
              </a:tr>
              <a:tr h="723900">
                <a:tc>
                  <a:txBody>
                    <a:bodyPr/>
                    <a:lstStyle/>
                    <a:p>
                      <a:r>
                        <a:rPr sz="1800" b="1">
                          <a:solidFill>
                            <a:srgbClr val="005EB8"/>
                          </a:solidFill>
                          <a:latin typeface="Nimbus Sans"/>
                          <a:ea typeface="Nimbus Sans"/>
                          <a:cs typeface="Nimbus Sans"/>
                        </a:rPr>
                        <a:t>3. Test the example</a:t>
                      </a:r>
                    </a:p>
                  </a:txBody>
                  <a:tcPr marL="91440" marR="91440" marT="45720" marB="45720">
                    <a:solidFill>
                      <a:srgbClr val="F0F5FA"/>
                    </a:solidFill>
                  </a:tcPr>
                </a:tc>
                <a:tc>
                  <a:txBody>
                    <a:bodyPr/>
                    <a:lstStyle/>
                    <a:p>
                      <a:r>
                        <a:rPr sz="1800" b="0">
                          <a:solidFill>
                            <a:srgbClr val="00205B"/>
                          </a:solidFill>
                          <a:latin typeface="Nimbus Sans"/>
                          <a:ea typeface="Nimbus Sans"/>
                          <a:cs typeface="Nimbus Sans"/>
                        </a:rPr>
                        <a:t>Before and after results for the same requests</a:t>
                      </a:r>
                    </a:p>
                  </a:txBody>
                  <a:tcPr marL="91440" marR="91440" marT="45720" marB="45720">
                    <a:solidFill>
                      <a:srgbClr val="F0F5FA"/>
                    </a:solidFill>
                  </a:tcPr>
                </a:tc>
              </a:tr>
              <a:tr h="723900">
                <a:tc>
                  <a:txBody>
                    <a:bodyPr/>
                    <a:lstStyle/>
                    <a:p>
                      <a:r>
                        <a:rPr sz="1800" b="1">
                          <a:solidFill>
                            <a:srgbClr val="005EB8"/>
                          </a:solidFill>
                          <a:latin typeface="Nimbus Sans"/>
                          <a:ea typeface="Nimbus Sans"/>
                          <a:cs typeface="Nimbus Sans"/>
                        </a:rPr>
                        <a:t>4. Explain the estimate</a:t>
                      </a:r>
                    </a:p>
                  </a:txBody>
                  <a:tcPr marL="91440" marR="91440" marT="45720" marB="45720">
                    <a:solidFill>
                      <a:srgbClr val="FFFFFF"/>
                    </a:solidFill>
                  </a:tcPr>
                </a:tc>
                <a:tc>
                  <a:txBody>
                    <a:bodyPr/>
                    <a:lstStyle/>
                    <a:p>
                      <a:r>
                        <a:rPr sz="1800" b="0">
                          <a:solidFill>
                            <a:srgbClr val="00205B"/>
                          </a:solidFill>
                          <a:latin typeface="Nimbus Sans"/>
                          <a:ea typeface="Nimbus Sans"/>
                          <a:cs typeface="Nimbus Sans"/>
                        </a:rPr>
                        <a:t>Carbon estimate with its assumptions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37D9CF6-77B4-48CB-B6EE-907F48911A2D}"/>
              </a:ext>
            </a:extLst>
          </p:cNvPr>
          <p:cNvSpPr>
            <a:spLocks xmlns:a="http://schemas.openxmlformats.org/drawingml/2006/main" noGrp="1"/>
          </p:cNvSpPr>
          <p:nvPr/>
        </p:nvSpPr>
        <p:spPr>
          <a:xfrm xmlns:a="http://schemas.openxmlformats.org/drawingml/2006/main">
            <a:off x="666750" y="561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078"/>
                </a:solidFill>
                <a:latin typeface="Nimbus Sans"/>
                <a:ea typeface="Nimbus Sans"/>
                <a:cs typeface="Nimbus Sans"/>
              </a:defRPr>
            </a:pPr>
            <a:r>
              <a:rPr sz="1800" b="0">
                <a:solidFill>
                  <a:srgbClr val="506078"/>
                </a:solidFill>
                <a:latin typeface="Nimbus Sans"/>
                <a:ea typeface="Nimbus Sans"/>
                <a:cs typeface="Nimbus Sans"/>
              </a:rPr>
              <a:t>Source-only uploads provide findings. Automatic testing covers the built-in example.</a:t>
            </a:r>
          </a:p>
        </p:txBody>
      </p:sp>
    </p:spTree>
    <p:extLst>
      <p:ext uri="{BB962C8B-B14F-4D97-AF65-F5344CB8AC3E}">
        <p14:creationId xmlns:p14="http://schemas.microsoft.com/office/powerpoint/2010/main" val="2486329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F4EE54-AE95-4D61-883B-D33730D6846F}"/>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The example: reuse reference data</a:t>
            </a:r>
          </a:p>
        </p:txBody>
      </p:sp>
      <p:sp>
        <p:nvSpPr>
          <p:cNvPr id="2" name="">
            <a:extLst xmlns:a="http://schemas.openxmlformats.org/drawingml/2006/main">
              <a:ext uri="{FF2B5EF4-FFF2-40B4-BE49-F238E27FC236}">
                <a16:creationId xmlns:a16="http://schemas.microsoft.com/office/drawing/2014/main" id="{7126CBA9-993B-4002-BE9B-0E32FBC79262}"/>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0A7381F4-AA65-4E2C-B144-AFC3F734F7B0}"/>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04</a:t>
            </a:r>
          </a:p>
        </p:txBody>
      </p:sp>
      <p:sp>
        <p:nvSpPr>
          <p:cNvPr id="4" name="">
            <a:extLst xmlns:a="http://schemas.openxmlformats.org/drawingml/2006/main">
              <a:ext uri="{FF2B5EF4-FFF2-40B4-BE49-F238E27FC236}">
                <a16:creationId xmlns:a16="http://schemas.microsoft.com/office/drawing/2014/main" id="{7CAE93CA-6ED3-4699-AD03-CCAC6D62A0AE}"/>
              </a:ext>
            </a:extLst>
          </p:cNvPr>
          <p:cNvSpPr>
            <a:spLocks xmlns:a="http://schemas.openxmlformats.org/drawingml/2006/main" noGrp="1"/>
          </p:cNvSpPr>
          <p:nvPr/>
        </p:nvSpPr>
        <p:spPr>
          <a:xfrm xmlns:a="http://schemas.openxmlformats.org/drawingml/2006/main">
            <a:off x="666750" y="1619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Problem found</a:t>
            </a:r>
          </a:p>
        </p:txBody>
      </p:sp>
      <p:sp>
        <p:nvSpPr>
          <p:cNvPr id="5" name="">
            <a:extLst xmlns:a="http://schemas.openxmlformats.org/drawingml/2006/main">
              <a:ext uri="{FF2B5EF4-FFF2-40B4-BE49-F238E27FC236}">
                <a16:creationId xmlns:a16="http://schemas.microsoft.com/office/drawing/2014/main" id="{84F9A1D7-B529-48A3-8555-70448A8AF26E}"/>
              </a:ext>
            </a:extLst>
          </p:cNvPr>
          <p:cNvSpPr>
            <a:spLocks xmlns:a="http://schemas.openxmlformats.org/drawingml/2006/main" noGrp="1"/>
          </p:cNvSpPr>
          <p:nvPr/>
        </p:nvSpPr>
        <p:spPr>
          <a:xfrm xmlns:a="http://schemas.openxmlformats.org/drawingml/2006/main">
            <a:off x="857250" y="20574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Every request reads the same file and parses its JSON again.</a:t>
            </a:r>
          </a:p>
        </p:txBody>
      </p:sp>
      <p:sp>
        <p:nvSpPr>
          <p:cNvPr id="6" name="">
            <a:extLst xmlns:a="http://schemas.openxmlformats.org/drawingml/2006/main">
              <a:ext uri="{FF2B5EF4-FFF2-40B4-BE49-F238E27FC236}">
                <a16:creationId xmlns:a16="http://schemas.microsoft.com/office/drawing/2014/main" id="{12AD8F59-CB95-42E3-9AEA-F22B611DCE8C}"/>
              </a:ext>
            </a:extLst>
          </p:cNvPr>
          <p:cNvSpPr>
            <a:spLocks xmlns:a="http://schemas.openxmlformats.org/drawingml/2006/main" noGrp="1"/>
          </p:cNvSpPr>
          <p:nvPr/>
        </p:nvSpPr>
        <p:spPr>
          <a:xfrm xmlns:a="http://schemas.openxmlformats.org/drawingml/2006/main">
            <a:off x="666750" y="2857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Suggested improvement</a:t>
            </a:r>
          </a:p>
        </p:txBody>
      </p:sp>
      <p:sp>
        <p:nvSpPr>
          <p:cNvPr id="7" name="">
            <a:extLst xmlns:a="http://schemas.openxmlformats.org/drawingml/2006/main">
              <a:ext uri="{FF2B5EF4-FFF2-40B4-BE49-F238E27FC236}">
                <a16:creationId xmlns:a16="http://schemas.microsoft.com/office/drawing/2014/main" id="{733F0040-8709-44BF-93E5-9F63120496BE}"/>
              </a:ext>
            </a:extLst>
          </p:cNvPr>
          <p:cNvSpPr>
            <a:spLocks xmlns:a="http://schemas.openxmlformats.org/drawingml/2006/main" noGrp="1"/>
          </p:cNvSpPr>
          <p:nvPr/>
        </p:nvSpPr>
        <p:spPr>
          <a:xfrm xmlns:a="http://schemas.openxmlformats.org/drawingml/2006/main">
            <a:off x="857250" y="32956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Load and parse once when the app starts. Reuse the data for each request.</a:t>
            </a:r>
          </a:p>
        </p:txBody>
      </p:sp>
      <p:sp>
        <p:nvSpPr>
          <p:cNvPr id="8" name="">
            <a:extLst xmlns:a="http://schemas.openxmlformats.org/drawingml/2006/main">
              <a:ext uri="{FF2B5EF4-FFF2-40B4-BE49-F238E27FC236}">
                <a16:creationId xmlns:a16="http://schemas.microsoft.com/office/drawing/2014/main" id="{1DFF01D6-0F66-4691-95D2-2B7E750F587C}"/>
              </a:ext>
            </a:extLst>
          </p:cNvPr>
          <p:cNvSpPr>
            <a:spLocks xmlns:a="http://schemas.openxmlformats.org/drawingml/2006/main" noGrp="1"/>
          </p:cNvSpPr>
          <p:nvPr/>
        </p:nvSpPr>
        <p:spPr>
          <a:xfrm xmlns:a="http://schemas.openxmlformats.org/drawingml/2006/main">
            <a:off x="666750" y="40957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Trade-off</a:t>
            </a:r>
          </a:p>
        </p:txBody>
      </p:sp>
      <p:sp>
        <p:nvSpPr>
          <p:cNvPr id="9" name="">
            <a:extLst xmlns:a="http://schemas.openxmlformats.org/drawingml/2006/main">
              <a:ext uri="{FF2B5EF4-FFF2-40B4-BE49-F238E27FC236}">
                <a16:creationId xmlns:a16="http://schemas.microsoft.com/office/drawing/2014/main" id="{BB030ECA-1902-476D-83D8-F327C6C60112}"/>
              </a:ext>
            </a:extLst>
          </p:cNvPr>
          <p:cNvSpPr>
            <a:spLocks xmlns:a="http://schemas.openxmlformats.org/drawingml/2006/main" noGrp="1"/>
          </p:cNvSpPr>
          <p:nvPr/>
        </p:nvSpPr>
        <p:spPr>
          <a:xfrm xmlns:a="http://schemas.openxmlformats.org/drawingml/2006/main">
            <a:off x="857250" y="45339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Refresh the cache when the file changes. Keeping it uses memory.</a:t>
            </a:r>
          </a:p>
        </p:txBody>
      </p:sp>
      <p:sp>
        <p:nvSpPr>
          <p:cNvPr id="10" name="">
            <a:extLst xmlns:a="http://schemas.openxmlformats.org/drawingml/2006/main">
              <a:ext uri="{FF2B5EF4-FFF2-40B4-BE49-F238E27FC236}">
                <a16:creationId xmlns:a16="http://schemas.microsoft.com/office/drawing/2014/main" id="{3A905232-AA37-4F01-AE0D-34FADB0C1E02}"/>
              </a:ext>
            </a:extLst>
          </p:cNvPr>
          <p:cNvSpPr>
            <a:spLocks xmlns:a="http://schemas.openxmlformats.org/drawingml/2006/main" noGrp="1"/>
          </p:cNvSpPr>
          <p:nvPr/>
        </p:nvSpPr>
        <p:spPr>
          <a:xfrm xmlns:a="http://schemas.openxmlformats.org/drawingml/2006/main">
            <a:off x="666750" y="56388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078"/>
                </a:solidFill>
                <a:latin typeface="Nimbus Sans"/>
                <a:ea typeface="Nimbus Sans"/>
                <a:cs typeface="Nimbus Sans"/>
              </a:defRPr>
            </a:pPr>
            <a:r>
              <a:rPr sz="1725" b="0">
                <a:solidFill>
                  <a:srgbClr val="506078"/>
                </a:solidFill>
                <a:latin typeface="Nimbus Sans"/>
                <a:ea typeface="Nimbus Sans"/>
                <a:cs typeface="Nimbus Sans"/>
              </a:rPr>
              <a:t>Source: before/app.js:8      Endpoint: GET /reference-data</a:t>
            </a:r>
          </a:p>
        </p:txBody>
      </p:sp>
    </p:spTree>
    <p:extLst>
      <p:ext uri="{BB962C8B-B14F-4D97-AF65-F5344CB8AC3E}">
        <p14:creationId xmlns:p14="http://schemas.microsoft.com/office/powerpoint/2010/main" val="12507641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5E3904-D2EB-46D6-9210-17B00A0916D3}"/>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What changed in the test</a:t>
            </a:r>
          </a:p>
        </p:txBody>
      </p:sp>
      <p:sp>
        <p:nvSpPr>
          <p:cNvPr id="2" name="">
            <a:extLst xmlns:a="http://schemas.openxmlformats.org/drawingml/2006/main">
              <a:ext uri="{FF2B5EF4-FFF2-40B4-BE49-F238E27FC236}">
                <a16:creationId xmlns:a16="http://schemas.microsoft.com/office/drawing/2014/main" id="{387DCECE-B3BE-484B-A21A-FD31381F40C8}"/>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C567C9BE-8E1D-46A5-A4C2-60E4453EBB4F}"/>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05</a:t>
            </a:r>
          </a:p>
        </p:txBody>
      </p:sp>
      <p:sp>
        <p:nvSpPr>
          <p:cNvPr id="4" name="">
            <a:extLst xmlns:a="http://schemas.openxmlformats.org/drawingml/2006/main">
              <a:ext uri="{FF2B5EF4-FFF2-40B4-BE49-F238E27FC236}">
                <a16:creationId xmlns:a16="http://schemas.microsoft.com/office/drawing/2014/main" id="{A74C2AE8-6FFC-4650-88A8-A8BFC2C6DDAE}"/>
              </a:ext>
            </a:extLst>
          </p:cNvPr>
          <p:cNvSpPr>
            <a:spLocks xmlns:a="http://schemas.openxmlformats.org/drawingml/2006/main" noGrp="1"/>
          </p:cNvSpPr>
          <p:nvPr/>
        </p:nvSpPr>
        <p:spPr>
          <a:xfrm xmlns:a="http://schemas.openxmlformats.org/drawingml/2006/main">
            <a:off x="666750" y="1428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06078"/>
                </a:solidFill>
                <a:latin typeface="Nimbus Sans"/>
                <a:ea typeface="Nimbus Sans"/>
                <a:cs typeface="Nimbus Sans"/>
              </a:defRPr>
            </a:pPr>
            <a:r>
              <a:rPr sz="2025" b="0">
                <a:solidFill>
                  <a:srgbClr val="506078"/>
                </a:solidFill>
                <a:latin typeface="Nimbus Sans"/>
                <a:ea typeface="Nimbus Sans"/>
                <a:cs typeface="Nimbus Sans"/>
              </a:rPr>
              <a:t>Average time for 10,000 requests (milliseconds)</a:t>
            </a:r>
          </a:p>
        </p:txBody>
      </p:sp>
      <p:graphicFrame>
        <p:nvGraphicFramePr>
          <p:cNvPr id="14" name="Chart"/>
          <p:cNvGraphicFramePr/>
          <p:nvPr/>
        </p:nvGraphicFramePr>
        <p:xfrm>
          <a:off xmlns:a="http://schemas.openxmlformats.org/drawingml/2006/main" x="619125" y="2047875"/>
          <a:ext xmlns:a="http://schemas.openxmlformats.org/drawingml/2006/main" cx="7239000" cy="2905125"/>
        </p:xfrm>
        <a:graphic xmlns:a="http://schemas.openxmlformats.org/drawingml/2006/main">
          <a:graphicData uri="http://schemas.openxmlformats.org/drawingml/2006/chart">
            <c:chart xmlns:r="http://schemas.openxmlformats.org/officeDocument/2006/relationships" xmlns:c="http://schemas.openxmlformats.org/drawingml/2006/chart" r:id="R173d2e96cfd14815"/>
          </a:graphicData>
        </a:graphic>
      </p:graphicFrame>
      <p:sp>
        <p:nvSpPr>
          <p:cNvPr id="6" name="">
            <a:extLst xmlns:a="http://schemas.openxmlformats.org/drawingml/2006/main">
              <a:ext uri="{FF2B5EF4-FFF2-40B4-BE49-F238E27FC236}">
                <a16:creationId xmlns:a16="http://schemas.microsoft.com/office/drawing/2014/main" id="{81A218D3-7069-48D3-9EEE-C91DABA8E158}"/>
              </a:ext>
            </a:extLst>
          </p:cNvPr>
          <p:cNvSpPr>
            <a:spLocks xmlns:a="http://schemas.openxmlformats.org/drawingml/2006/main" noGrp="1"/>
          </p:cNvSpPr>
          <p:nvPr/>
        </p:nvSpPr>
        <p:spPr>
          <a:xfrm xmlns:a="http://schemas.openxmlformats.org/drawingml/2006/main">
            <a:off x="8334375" y="2524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59B7B"/>
                </a:solidFill>
                <a:latin typeface="Nimbus Sans"/>
                <a:ea typeface="Nimbus Sans"/>
                <a:cs typeface="Nimbus Sans"/>
              </a:defRPr>
            </a:pPr>
            <a:r>
              <a:rPr sz="4650" b="1">
                <a:solidFill>
                  <a:srgbClr val="159B7B"/>
                </a:solidFill>
                <a:latin typeface="Nimbus Sans"/>
                <a:ea typeface="Nimbus Sans"/>
                <a:cs typeface="Nimbus Sans"/>
              </a:rPr>
              <a:t>24.6%</a:t>
            </a:r>
          </a:p>
        </p:txBody>
      </p:sp>
      <p:sp>
        <p:nvSpPr>
          <p:cNvPr id="7" name="">
            <a:extLst xmlns:a="http://schemas.openxmlformats.org/drawingml/2006/main">
              <a:ext uri="{FF2B5EF4-FFF2-40B4-BE49-F238E27FC236}">
                <a16:creationId xmlns:a16="http://schemas.microsoft.com/office/drawing/2014/main" id="{FC6E14CA-EACD-480B-A054-4345A3259250}"/>
              </a:ext>
            </a:extLst>
          </p:cNvPr>
          <p:cNvSpPr>
            <a:spLocks xmlns:a="http://schemas.openxmlformats.org/drawingml/2006/main" noGrp="1"/>
          </p:cNvSpPr>
          <p:nvPr/>
        </p:nvSpPr>
        <p:spPr>
          <a:xfrm xmlns:a="http://schemas.openxmlformats.org/drawingml/2006/main">
            <a:off x="8382000" y="3571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05B"/>
                </a:solidFill>
                <a:latin typeface="Nimbus Sans"/>
                <a:ea typeface="Nimbus Sans"/>
                <a:cs typeface="Nimbus Sans"/>
              </a:defRPr>
            </a:pPr>
            <a:r>
              <a:rPr sz="2250" b="1">
                <a:solidFill>
                  <a:srgbClr val="00205B"/>
                </a:solidFill>
                <a:latin typeface="Nimbus Sans"/>
                <a:ea typeface="Nimbus Sans"/>
                <a:cs typeface="Nimbus Sans"/>
              </a:rPr>
              <a:t>less time</a:t>
            </a:r>
          </a:p>
        </p:txBody>
      </p:sp>
      <p:sp>
        <p:nvSpPr>
          <p:cNvPr id="8" name="">
            <a:extLst xmlns:a="http://schemas.openxmlformats.org/drawingml/2006/main">
              <a:ext uri="{FF2B5EF4-FFF2-40B4-BE49-F238E27FC236}">
                <a16:creationId xmlns:a16="http://schemas.microsoft.com/office/drawing/2014/main" id="{10C1C233-5728-445C-A8DF-49AA96C49070}"/>
              </a:ext>
            </a:extLst>
          </p:cNvPr>
          <p:cNvSpPr>
            <a:spLocks xmlns:a="http://schemas.openxmlformats.org/drawingml/2006/main" noGrp="1"/>
          </p:cNvSpPr>
          <p:nvPr/>
        </p:nvSpPr>
        <p:spPr>
          <a:xfrm xmlns:a="http://schemas.openxmlformats.org/drawingml/2006/main">
            <a:off x="666750" y="5248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05B"/>
                </a:solidFill>
                <a:latin typeface="Nimbus Sans"/>
                <a:ea typeface="Nimbus Sans"/>
                <a:cs typeface="Nimbus Sans"/>
              </a:defRPr>
            </a:pPr>
            <a:r>
              <a:rPr sz="1875" b="1">
                <a:solidFill>
                  <a:srgbClr val="00205B"/>
                </a:solidFill>
                <a:latin typeface="Nimbus Sans"/>
                <a:ea typeface="Nimbus Sans"/>
                <a:cs typeface="Nimbus Sans"/>
              </a:rPr>
              <a:t>Both versions returned identical responses. No measured request failures.</a:t>
            </a:r>
          </a:p>
        </p:txBody>
      </p:sp>
      <p:sp>
        <p:nvSpPr>
          <p:cNvPr id="9" name="">
            <a:extLst xmlns:a="http://schemas.openxmlformats.org/drawingml/2006/main">
              <a:ext uri="{FF2B5EF4-FFF2-40B4-BE49-F238E27FC236}">
                <a16:creationId xmlns:a16="http://schemas.microsoft.com/office/drawing/2014/main" id="{5F0B6F2D-7CD8-4A31-8CE7-57741E96D4BB}"/>
              </a:ext>
            </a:extLst>
          </p:cNvPr>
          <p:cNvSpPr>
            <a:spLocks xmlns:a="http://schemas.openxmlformats.org/drawingml/2006/main" noGrp="1"/>
          </p:cNvSpPr>
          <p:nvPr/>
        </p:nvSpPr>
        <p:spPr>
          <a:xfrm xmlns:a="http://schemas.openxmlformats.org/drawingml/2006/main">
            <a:off x="666750" y="58959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078"/>
                </a:solidFill>
                <a:latin typeface="Nimbus Sans"/>
                <a:ea typeface="Nimbus Sans"/>
                <a:cs typeface="Nimbus Sans"/>
              </a:defRPr>
            </a:pPr>
            <a:r>
              <a:rPr sz="1500" b="0">
                <a:solidFill>
                  <a:srgbClr val="506078"/>
                </a:solidFill>
                <a:latin typeface="Nimbus Sans"/>
                <a:ea typeface="Nimbus Sans"/>
                <a:cs typeface="Nimbus Sans"/>
              </a:rPr>
              <a:t>Six batches per version: 60,000 measured requests each. Results from this example.</a:t>
            </a:r>
          </a:p>
        </p:txBody>
      </p:sp>
    </p:spTree>
    <p:extLst>
      <p:ext uri="{BB962C8B-B14F-4D97-AF65-F5344CB8AC3E}">
        <p14:creationId xmlns:p14="http://schemas.microsoft.com/office/powerpoint/2010/main" val="5043265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4EA0DA-E17D-4F5C-A631-019E412BF23F}"/>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What the carbon estimate means</a:t>
            </a:r>
          </a:p>
        </p:txBody>
      </p:sp>
      <p:sp>
        <p:nvSpPr>
          <p:cNvPr id="2" name="">
            <a:extLst xmlns:a="http://schemas.openxmlformats.org/drawingml/2006/main">
              <a:ext uri="{FF2B5EF4-FFF2-40B4-BE49-F238E27FC236}">
                <a16:creationId xmlns:a16="http://schemas.microsoft.com/office/drawing/2014/main" id="{0B3E87DC-8209-4F52-A9A3-5882C1DF5C9B}"/>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BC5F9D84-6A3A-4EBC-B429-B99720354D6E}"/>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06</a:t>
            </a:r>
          </a:p>
        </p:txBody>
      </p:sp>
      <p:graphicFrame>
        <p:nvGraphicFramePr>
          <p:cNvPr id="11" name=""/>
          <p:cNvGraphicFramePr/>
          <p:nvPr/>
        </p:nvGraphicFramePr>
        <p:xfrm>
          <a:off xmlns:a="http://schemas.openxmlformats.org/drawingml/2006/main" x="666750" y="1619250"/>
          <a:ext xmlns:a="http://schemas.openxmlformats.org/drawingml/2006/main" cx="10820400" cy="2286000"/>
        </p:xfrm>
        <a:graphic xmlns:a="http://schemas.openxmlformats.org/drawingml/2006/main">
          <a:graphicData uri="http://schemas.openxmlformats.org/drawingml/2006/table">
            <a:tbl>
              <a:tblPr/>
              <a:tblGrid>
                <a:gridCol w="4286250"/>
                <a:gridCol w="6534150"/>
              </a:tblGrid>
              <a:tr h="762000">
                <a:tc>
                  <a:txBody>
                    <a:bodyPr/>
                    <a:lstStyle/>
                    <a:p>
                      <a:r>
                        <a:rPr sz="1875" b="1">
                          <a:solidFill>
                            <a:srgbClr val="FFFFFF"/>
                          </a:solidFill>
                          <a:latin typeface="Nimbus Sans"/>
                          <a:ea typeface="Nimbus Sans"/>
                          <a:cs typeface="Nimbus Sans"/>
                        </a:rPr>
                        <a:t>Scenario estimate</a:t>
                      </a:r>
                    </a:p>
                  </a:txBody>
                  <a:tcPr marL="91440" marR="91440" marT="45720" marB="45720">
                    <a:solidFill>
                      <a:srgbClr val="00205B"/>
                    </a:solidFill>
                  </a:tcPr>
                </a:tc>
                <a:tc>
                  <a:txBody>
                    <a:bodyPr/>
                    <a:lstStyle/>
                    <a:p>
                      <a:r>
                        <a:rPr sz="1875" b="1">
                          <a:solidFill>
                            <a:srgbClr val="FFFFFF"/>
                          </a:solidFill>
                          <a:latin typeface="Nimbus Sans"/>
                          <a:ea typeface="Nimbus Sans"/>
                          <a:cs typeface="Nimbus Sans"/>
                        </a:rPr>
                        <a:t>CO₂e per 1,000 successful requests</a:t>
                      </a:r>
                    </a:p>
                  </a:txBody>
                  <a:tcPr marL="91440" marR="91440" marT="45720" marB="45720">
                    <a:solidFill>
                      <a:srgbClr val="00205B"/>
                    </a:solidFill>
                  </a:tcPr>
                </a:tc>
              </a:tr>
              <a:tr h="762000">
                <a:tc>
                  <a:txBody>
                    <a:bodyPr/>
                    <a:lstStyle/>
                    <a:p>
                      <a:r>
                        <a:rPr sz="1800" b="1">
                          <a:solidFill>
                            <a:srgbClr val="005EB8"/>
                          </a:solidFill>
                          <a:latin typeface="Nimbus Sans"/>
                          <a:ea typeface="Nimbus Sans"/>
                          <a:cs typeface="Nimbus Sans"/>
                        </a:rPr>
                        <a:t>Before improvement</a:t>
                      </a:r>
                    </a:p>
                  </a:txBody>
                  <a:tcPr marL="91440" marR="91440" marT="45720" marB="45720">
                    <a:solidFill>
                      <a:srgbClr val="F0F5FA"/>
                    </a:solidFill>
                  </a:tcPr>
                </a:tc>
                <a:tc>
                  <a:txBody>
                    <a:bodyPr/>
                    <a:lstStyle/>
                    <a:p>
                      <a:r>
                        <a:rPr sz="1800" b="0">
                          <a:solidFill>
                            <a:srgbClr val="00205B"/>
                          </a:solidFill>
                          <a:latin typeface="Nimbus Sans"/>
                          <a:ea typeface="Nimbus Sans"/>
                          <a:cs typeface="Nimbus Sans"/>
                        </a:rPr>
                        <a:t>96.7 micrograms</a:t>
                      </a:r>
                    </a:p>
                  </a:txBody>
                  <a:tcPr marL="91440" marR="91440" marT="45720" marB="45720">
                    <a:solidFill>
                      <a:srgbClr val="F0F5FA"/>
                    </a:solidFill>
                  </a:tcPr>
                </a:tc>
              </a:tr>
              <a:tr h="762000">
                <a:tc>
                  <a:txBody>
                    <a:bodyPr/>
                    <a:lstStyle/>
                    <a:p>
                      <a:r>
                        <a:rPr sz="1800" b="1">
                          <a:solidFill>
                            <a:srgbClr val="005EB8"/>
                          </a:solidFill>
                          <a:latin typeface="Nimbus Sans"/>
                          <a:ea typeface="Nimbus Sans"/>
                          <a:cs typeface="Nimbus Sans"/>
                        </a:rPr>
                        <a:t>After improvement</a:t>
                      </a:r>
                    </a:p>
                  </a:txBody>
                  <a:tcPr marL="91440" marR="91440" marT="45720" marB="45720">
                    <a:solidFill>
                      <a:srgbClr val="FFFFFF"/>
                    </a:solidFill>
                  </a:tcPr>
                </a:tc>
                <a:tc>
                  <a:txBody>
                    <a:bodyPr/>
                    <a:lstStyle/>
                    <a:p>
                      <a:r>
                        <a:rPr sz="1800" b="0">
                          <a:solidFill>
                            <a:srgbClr val="00205B"/>
                          </a:solidFill>
                          <a:latin typeface="Nimbus Sans"/>
                          <a:ea typeface="Nimbus Sans"/>
                          <a:cs typeface="Nimbus Sans"/>
                        </a:rPr>
                        <a:t>73.0 micrograms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66F296-87C0-4338-B0F8-C45D3B7B1FD5}"/>
              </a:ext>
            </a:extLst>
          </p:cNvPr>
          <p:cNvSpPr>
            <a:spLocks xmlns:a="http://schemas.openxmlformats.org/drawingml/2006/main" noGrp="1"/>
          </p:cNvSpPr>
          <p:nvPr/>
        </p:nvSpPr>
        <p:spPr>
          <a:xfrm xmlns:a="http://schemas.openxmlformats.org/drawingml/2006/main">
            <a:off x="666750" y="4286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9B7B"/>
                </a:solidFill>
                <a:latin typeface="Nimbus Sans"/>
                <a:ea typeface="Nimbus Sans"/>
                <a:cs typeface="Nimbus Sans"/>
              </a:defRPr>
            </a:pPr>
            <a:r>
              <a:rPr sz="2325" b="1">
                <a:solidFill>
                  <a:srgbClr val="159B7B"/>
                </a:solidFill>
                <a:latin typeface="Nimbus Sans"/>
                <a:ea typeface="Nimbus Sans"/>
                <a:cs typeface="Nimbus Sans"/>
              </a:rPr>
              <a:t>24.6% lower under the example assumptions</a:t>
            </a:r>
          </a:p>
        </p:txBody>
      </p:sp>
      <p:sp>
        <p:nvSpPr>
          <p:cNvPr id="6" name="">
            <a:extLst xmlns:a="http://schemas.openxmlformats.org/drawingml/2006/main">
              <a:ext uri="{FF2B5EF4-FFF2-40B4-BE49-F238E27FC236}">
                <a16:creationId xmlns:a16="http://schemas.microsoft.com/office/drawing/2014/main" id="{4146AA75-CAB3-4D3E-8CB1-97E45A7F9DB9}"/>
              </a:ext>
            </a:extLst>
          </p:cNvPr>
          <p:cNvSpPr>
            <a:spLocks xmlns:a="http://schemas.openxmlformats.org/drawingml/2006/main" noGrp="1"/>
          </p:cNvSpPr>
          <p:nvPr/>
        </p:nvSpPr>
        <p:spPr>
          <a:xfrm xmlns:a="http://schemas.openxmlformats.org/drawingml/2006/main">
            <a:off x="666750" y="4972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0205B"/>
                </a:solidFill>
                <a:latin typeface="Nimbus Sans"/>
                <a:ea typeface="Nimbus Sans"/>
                <a:cs typeface="Nimbus Sans"/>
              </a:defRPr>
            </a:pPr>
            <a:r>
              <a:rPr sz="2025" b="0">
                <a:solidFill>
                  <a:srgbClr val="00205B"/>
                </a:solidFill>
                <a:latin typeface="Nimbus Sans"/>
                <a:ea typeface="Nimbus Sans"/>
                <a:cs typeface="Nimbus Sans"/>
              </a:rPr>
              <a:t>The calculation assumes the same power use while each test runs.</a:t>
            </a:r>
          </a:p>
          <a:p xmlns:a="http://schemas.openxmlformats.org/drawingml/2006/main">
            <a:pPr>
              <a:defRPr sz="2025" b="0">
                <a:solidFill>
                  <a:srgbClr val="00205B"/>
                </a:solidFill>
                <a:latin typeface="Nimbus Sans"/>
                <a:ea typeface="Nimbus Sans"/>
                <a:cs typeface="Nimbus Sans"/>
              </a:defRPr>
            </a:pPr>
            <a:r>
              <a:rPr sz="2025" b="0">
                <a:solidFill>
                  <a:srgbClr val="00205B"/>
                </a:solidFill>
                <a:latin typeface="Nimbus Sans"/>
                <a:ea typeface="Nimbus Sans"/>
                <a:cs typeface="Nimbus Sans"/>
              </a:rPr>
              <a:t>A shorter test therefore gives a lower estimate.</a:t>
            </a:r>
          </a:p>
        </p:txBody>
      </p:sp>
      <p:sp>
        <p:nvSpPr>
          <p:cNvPr id="7" name="">
            <a:extLst xmlns:a="http://schemas.openxmlformats.org/drawingml/2006/main">
              <a:ext uri="{FF2B5EF4-FFF2-40B4-BE49-F238E27FC236}">
                <a16:creationId xmlns:a16="http://schemas.microsoft.com/office/drawing/2014/main" id="{AD428344-22A0-46D1-97C6-EEA5979194B0}"/>
              </a:ext>
            </a:extLst>
          </p:cNvPr>
          <p:cNvSpPr>
            <a:spLocks xmlns:a="http://schemas.openxmlformats.org/drawingml/2006/main" noGrp="1"/>
          </p:cNvSpPr>
          <p:nvPr/>
        </p:nvSpPr>
        <p:spPr>
          <a:xfrm xmlns:a="http://schemas.openxmlformats.org/drawingml/2006/main">
            <a:off x="666750" y="58769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06078"/>
                </a:solidFill>
                <a:latin typeface="Nimbus Sans"/>
                <a:ea typeface="Nimbus Sans"/>
                <a:cs typeface="Nimbus Sans"/>
              </a:defRPr>
            </a:pPr>
            <a:r>
              <a:rPr sz="1575" b="0">
                <a:solidFill>
                  <a:srgbClr val="506078"/>
                </a:solidFill>
                <a:latin typeface="Nimbus Sans"/>
                <a:ea typeface="Nimbus Sans"/>
                <a:cs typeface="Nimbus Sans"/>
              </a:rPr>
              <a:t>Actual electricity use was not measured. This is not the app’s total footprint.</a:t>
            </a:r>
          </a:p>
        </p:txBody>
      </p:sp>
    </p:spTree>
    <p:extLst>
      <p:ext uri="{BB962C8B-B14F-4D97-AF65-F5344CB8AC3E}">
        <p14:creationId xmlns:p14="http://schemas.microsoft.com/office/powerpoint/2010/main" val="1809632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C26ECE-7F18-4FDF-8EAE-F5CEEBB5C4BB}"/>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Where CO2.js fits</a:t>
            </a:r>
          </a:p>
        </p:txBody>
      </p:sp>
      <p:sp>
        <p:nvSpPr>
          <p:cNvPr id="2" name="">
            <a:extLst xmlns:a="http://schemas.openxmlformats.org/drawingml/2006/main">
              <a:ext uri="{FF2B5EF4-FFF2-40B4-BE49-F238E27FC236}">
                <a16:creationId xmlns:a16="http://schemas.microsoft.com/office/drawing/2014/main" id="{2F0D4EF0-C5F3-4EE5-BCE5-FF1F8FF6D9F6}"/>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B4A193B0-B67E-432D-81F2-CA97B3B6092F}"/>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07</a:t>
            </a:r>
          </a:p>
        </p:txBody>
      </p:sp>
      <p:sp>
        <p:nvSpPr>
          <p:cNvPr id="4" name="">
            <a:extLst xmlns:a="http://schemas.openxmlformats.org/drawingml/2006/main">
              <a:ext uri="{FF2B5EF4-FFF2-40B4-BE49-F238E27FC236}">
                <a16:creationId xmlns:a16="http://schemas.microsoft.com/office/drawing/2014/main" id="{86AA0318-87A1-4107-9382-FB5A0EA84551}"/>
              </a:ext>
            </a:extLst>
          </p:cNvPr>
          <p:cNvSpPr>
            <a:spLocks xmlns:a="http://schemas.openxmlformats.org/drawingml/2006/main" noGrp="1"/>
          </p:cNvSpPr>
          <p:nvPr/>
        </p:nvSpPr>
        <p:spPr>
          <a:xfrm xmlns:a="http://schemas.openxmlformats.org/drawingml/2006/main">
            <a:off x="666750" y="166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CO2.js: a separate data-transfer calculation</a:t>
            </a:r>
          </a:p>
        </p:txBody>
      </p:sp>
      <p:sp>
        <p:nvSpPr>
          <p:cNvPr id="5" name="">
            <a:extLst xmlns:a="http://schemas.openxmlformats.org/drawingml/2006/main">
              <a:ext uri="{FF2B5EF4-FFF2-40B4-BE49-F238E27FC236}">
                <a16:creationId xmlns:a16="http://schemas.microsoft.com/office/drawing/2014/main" id="{6A62AAEF-BD1B-4B7A-A0B1-90A11FD428C8}"/>
              </a:ext>
            </a:extLst>
          </p:cNvPr>
          <p:cNvSpPr>
            <a:spLocks xmlns:a="http://schemas.openxmlformats.org/drawingml/2006/main" noGrp="1"/>
          </p:cNvSpPr>
          <p:nvPr/>
        </p:nvSpPr>
        <p:spPr>
          <a:xfrm xmlns:a="http://schemas.openxmlformats.org/drawingml/2006/main">
            <a:off x="857250" y="2105025"/>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It accepts data size in bytes and returns a modelled carbon estimate.</a:t>
            </a:r>
          </a:p>
        </p:txBody>
      </p:sp>
      <p:sp>
        <p:nvSpPr>
          <p:cNvPr id="6" name="">
            <a:extLst xmlns:a="http://schemas.openxmlformats.org/drawingml/2006/main">
              <a:ext uri="{FF2B5EF4-FFF2-40B4-BE49-F238E27FC236}">
                <a16:creationId xmlns:a16="http://schemas.microsoft.com/office/drawing/2014/main" id="{3A2189D9-2063-4528-93F3-597BAF624D4F}"/>
              </a:ext>
            </a:extLst>
          </p:cNvPr>
          <p:cNvSpPr>
            <a:spLocks xmlns:a="http://schemas.openxmlformats.org/drawingml/2006/main" noGrp="1"/>
          </p:cNvSpPr>
          <p:nvPr/>
        </p:nvSpPr>
        <p:spPr>
          <a:xfrm xmlns:a="http://schemas.openxmlformats.org/drawingml/2006/main">
            <a:off x="666750" y="29527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This demo: a compute scenario</a:t>
            </a:r>
          </a:p>
        </p:txBody>
      </p:sp>
      <p:sp>
        <p:nvSpPr>
          <p:cNvPr id="7" name="">
            <a:extLst xmlns:a="http://schemas.openxmlformats.org/drawingml/2006/main">
              <a:ext uri="{FF2B5EF4-FFF2-40B4-BE49-F238E27FC236}">
                <a16:creationId xmlns:a16="http://schemas.microsoft.com/office/drawing/2014/main" id="{860E274F-3F3B-4203-948A-CB51253E78DD}"/>
              </a:ext>
            </a:extLst>
          </p:cNvPr>
          <p:cNvSpPr>
            <a:spLocks xmlns:a="http://schemas.openxmlformats.org/drawingml/2006/main" noGrp="1"/>
          </p:cNvSpPr>
          <p:nvPr/>
        </p:nvSpPr>
        <p:spPr>
          <a:xfrm xmlns:a="http://schemas.openxmlformats.org/drawingml/2006/main">
            <a:off x="857250" y="33909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It uses measured test duration and assumed power to estimate carbon.</a:t>
            </a:r>
          </a:p>
        </p:txBody>
      </p:sp>
      <p:sp>
        <p:nvSpPr>
          <p:cNvPr id="8" name="">
            <a:extLst xmlns:a="http://schemas.openxmlformats.org/drawingml/2006/main">
              <a:ext uri="{FF2B5EF4-FFF2-40B4-BE49-F238E27FC236}">
                <a16:creationId xmlns:a16="http://schemas.microsoft.com/office/drawing/2014/main" id="{68F70E0E-507F-422C-B51B-26D03243DB6F}"/>
              </a:ext>
            </a:extLst>
          </p:cNvPr>
          <p:cNvSpPr>
            <a:spLocks xmlns:a="http://schemas.openxmlformats.org/drawingml/2006/main" noGrp="1"/>
          </p:cNvSpPr>
          <p:nvPr/>
        </p:nvSpPr>
        <p:spPr>
          <a:xfrm xmlns:a="http://schemas.openxmlformats.org/drawingml/2006/main">
            <a:off x="666750" y="4238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Caching keeps the response size unchanged</a:t>
            </a:r>
          </a:p>
        </p:txBody>
      </p:sp>
      <p:sp>
        <p:nvSpPr>
          <p:cNvPr id="9" name="">
            <a:extLst xmlns:a="http://schemas.openxmlformats.org/drawingml/2006/main">
              <a:ext uri="{FF2B5EF4-FFF2-40B4-BE49-F238E27FC236}">
                <a16:creationId xmlns:a16="http://schemas.microsoft.com/office/drawing/2014/main" id="{E4D83807-E060-4258-85D2-8204487BA3A7}"/>
              </a:ext>
            </a:extLst>
          </p:cNvPr>
          <p:cNvSpPr>
            <a:spLocks xmlns:a="http://schemas.openxmlformats.org/drawingml/2006/main" noGrp="1"/>
          </p:cNvSpPr>
          <p:nvPr/>
        </p:nvSpPr>
        <p:spPr>
          <a:xfrm xmlns:a="http://schemas.openxmlformats.org/drawingml/2006/main">
            <a:off x="857250" y="4676775"/>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Both versions return the same data. This demo shows less repeated processing.</a:t>
            </a:r>
          </a:p>
        </p:txBody>
      </p:sp>
    </p:spTree>
    <p:extLst>
      <p:ext uri="{BB962C8B-B14F-4D97-AF65-F5344CB8AC3E}">
        <p14:creationId xmlns:p14="http://schemas.microsoft.com/office/powerpoint/2010/main" val="8739703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6CC084-8329-45C0-9136-886BE5469F9F}"/>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Potential value for Airbus</a:t>
            </a:r>
          </a:p>
        </p:txBody>
      </p:sp>
      <p:sp>
        <p:nvSpPr>
          <p:cNvPr id="2" name="">
            <a:extLst xmlns:a="http://schemas.openxmlformats.org/drawingml/2006/main">
              <a:ext uri="{FF2B5EF4-FFF2-40B4-BE49-F238E27FC236}">
                <a16:creationId xmlns:a16="http://schemas.microsoft.com/office/drawing/2014/main" id="{E5C7E94F-C981-4FB8-8BD5-A3C291B2A9BD}"/>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64CA3DA7-7E96-4692-99AF-61F4BE7D3A89}"/>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08</a:t>
            </a:r>
          </a:p>
        </p:txBody>
      </p:sp>
      <p:sp>
        <p:nvSpPr>
          <p:cNvPr id="4" name="">
            <a:extLst xmlns:a="http://schemas.openxmlformats.org/drawingml/2006/main">
              <a:ext uri="{FF2B5EF4-FFF2-40B4-BE49-F238E27FC236}">
                <a16:creationId xmlns:a16="http://schemas.microsoft.com/office/drawing/2014/main" id="{85EBA408-4669-42D7-A8F4-4EE2704A2C71}"/>
              </a:ext>
            </a:extLst>
          </p:cNvPr>
          <p:cNvSpPr>
            <a:spLocks xmlns:a="http://schemas.openxmlformats.org/drawingml/2006/main" noGrp="1"/>
          </p:cNvSpPr>
          <p:nvPr/>
        </p:nvSpPr>
        <p:spPr>
          <a:xfrm xmlns:a="http://schemas.openxmlformats.org/drawingml/2006/main">
            <a:off x="666750" y="1619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Help developers find useful improvements</a:t>
            </a:r>
          </a:p>
        </p:txBody>
      </p:sp>
      <p:sp>
        <p:nvSpPr>
          <p:cNvPr id="5" name="">
            <a:extLst xmlns:a="http://schemas.openxmlformats.org/drawingml/2006/main">
              <a:ext uri="{FF2B5EF4-FFF2-40B4-BE49-F238E27FC236}">
                <a16:creationId xmlns:a16="http://schemas.microsoft.com/office/drawing/2014/main" id="{EFAC1494-071E-418C-9C05-550CF7FB7AF4}"/>
              </a:ext>
            </a:extLst>
          </p:cNvPr>
          <p:cNvSpPr>
            <a:spLocks xmlns:a="http://schemas.openxmlformats.org/drawingml/2006/main" noGrp="1"/>
          </p:cNvSpPr>
          <p:nvPr/>
        </p:nvSpPr>
        <p:spPr>
          <a:xfrm xmlns:a="http://schemas.openxmlformats.org/drawingml/2006/main">
            <a:off x="857250" y="20574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Review unnecessary work and test whether a change improves efficiency.</a:t>
            </a:r>
          </a:p>
        </p:txBody>
      </p:sp>
      <p:sp>
        <p:nvSpPr>
          <p:cNvPr id="6" name="">
            <a:extLst xmlns:a="http://schemas.openxmlformats.org/drawingml/2006/main">
              <a:ext uri="{FF2B5EF4-FFF2-40B4-BE49-F238E27FC236}">
                <a16:creationId xmlns:a16="http://schemas.microsoft.com/office/drawing/2014/main" id="{D1F45815-097A-4389-8E3C-98EC96CFCB49}"/>
              </a:ext>
            </a:extLst>
          </p:cNvPr>
          <p:cNvSpPr>
            <a:spLocks xmlns:a="http://schemas.openxmlformats.org/drawingml/2006/main" noGrp="1"/>
          </p:cNvSpPr>
          <p:nvPr/>
        </p:nvSpPr>
        <p:spPr>
          <a:xfrm xmlns:a="http://schemas.openxmlformats.org/drawingml/2006/main">
            <a:off x="666750" y="2857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Support better engineering decisions</a:t>
            </a:r>
          </a:p>
        </p:txBody>
      </p:sp>
      <p:sp>
        <p:nvSpPr>
          <p:cNvPr id="7" name="">
            <a:extLst xmlns:a="http://schemas.openxmlformats.org/drawingml/2006/main">
              <a:ext uri="{FF2B5EF4-FFF2-40B4-BE49-F238E27FC236}">
                <a16:creationId xmlns:a16="http://schemas.microsoft.com/office/drawing/2014/main" id="{2F7DD978-FE5D-41DC-BF65-272871ABCE6C}"/>
              </a:ext>
            </a:extLst>
          </p:cNvPr>
          <p:cNvSpPr>
            <a:spLocks xmlns:a="http://schemas.openxmlformats.org/drawingml/2006/main" noGrp="1"/>
          </p:cNvSpPr>
          <p:nvPr/>
        </p:nvSpPr>
        <p:spPr>
          <a:xfrm xmlns:a="http://schemas.openxmlformats.org/drawingml/2006/main">
            <a:off x="857250" y="32956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Compare the same task before and after, with clear assumptions.</a:t>
            </a:r>
          </a:p>
        </p:txBody>
      </p:sp>
      <p:sp>
        <p:nvSpPr>
          <p:cNvPr id="8" name="">
            <a:extLst xmlns:a="http://schemas.openxmlformats.org/drawingml/2006/main">
              <a:ext uri="{FF2B5EF4-FFF2-40B4-BE49-F238E27FC236}">
                <a16:creationId xmlns:a16="http://schemas.microsoft.com/office/drawing/2014/main" id="{748E8B7E-BA4C-4657-AEEB-E707DCF04618}"/>
              </a:ext>
            </a:extLst>
          </p:cNvPr>
          <p:cNvSpPr>
            <a:spLocks xmlns:a="http://schemas.openxmlformats.org/drawingml/2006/main" noGrp="1"/>
          </p:cNvSpPr>
          <p:nvPr/>
        </p:nvSpPr>
        <p:spPr>
          <a:xfrm xmlns:a="http://schemas.openxmlformats.org/drawingml/2006/main">
            <a:off x="666750" y="40957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Test the value on one internal application</a:t>
            </a:r>
          </a:p>
        </p:txBody>
      </p:sp>
      <p:sp>
        <p:nvSpPr>
          <p:cNvPr id="9" name="">
            <a:extLst xmlns:a="http://schemas.openxmlformats.org/drawingml/2006/main">
              <a:ext uri="{FF2B5EF4-FFF2-40B4-BE49-F238E27FC236}">
                <a16:creationId xmlns:a16="http://schemas.microsoft.com/office/drawing/2014/main" id="{DD37990B-DC53-49FE-A5D3-51C1ECC6468C}"/>
              </a:ext>
            </a:extLst>
          </p:cNvPr>
          <p:cNvSpPr>
            <a:spLocks xmlns:a="http://schemas.openxmlformats.org/drawingml/2006/main" noGrp="1"/>
          </p:cNvSpPr>
          <p:nvPr/>
        </p:nvSpPr>
        <p:spPr>
          <a:xfrm xmlns:a="http://schemas.openxmlformats.org/drawingml/2006/main">
            <a:off x="857250" y="45339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078"/>
                </a:solidFill>
                <a:latin typeface="Nimbus Sans"/>
                <a:ea typeface="Nimbus Sans"/>
                <a:cs typeface="Nimbus Sans"/>
              </a:defRPr>
            </a:pPr>
            <a:r>
              <a:rPr sz="1950" b="0">
                <a:solidFill>
                  <a:srgbClr val="506078"/>
                </a:solidFill>
                <a:latin typeface="Nimbus Sans"/>
                <a:ea typeface="Nimbus Sans"/>
                <a:cs typeface="Nimbus Sans"/>
              </a:rPr>
              <a:t>Work with its owner to verify improvements and any usage-based cost benefit.</a:t>
            </a:r>
          </a:p>
        </p:txBody>
      </p:sp>
      <p:sp>
        <p:nvSpPr>
          <p:cNvPr id="10" name="">
            <a:extLst xmlns:a="http://schemas.openxmlformats.org/drawingml/2006/main">
              <a:ext uri="{FF2B5EF4-FFF2-40B4-BE49-F238E27FC236}">
                <a16:creationId xmlns:a16="http://schemas.microsoft.com/office/drawing/2014/main" id="{1796EDF2-B300-4A4A-9506-5B27656DB17C}"/>
              </a:ext>
            </a:extLst>
          </p:cNvPr>
          <p:cNvSpPr>
            <a:spLocks xmlns:a="http://schemas.openxmlformats.org/drawingml/2006/main" noGrp="1"/>
          </p:cNvSpPr>
          <p:nvPr/>
        </p:nvSpPr>
        <p:spPr>
          <a:xfrm xmlns:a="http://schemas.openxmlformats.org/drawingml/2006/main">
            <a:off x="666750" y="5610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5EB8"/>
                </a:solidFill>
                <a:latin typeface="Nimbus Sans"/>
                <a:ea typeface="Nimbus Sans"/>
                <a:cs typeface="Nimbus Sans"/>
              </a:defRPr>
            </a:pPr>
            <a:r>
              <a:rPr sz="2100" b="1">
                <a:solidFill>
                  <a:srgbClr val="005EB8"/>
                </a:solidFill>
                <a:latin typeface="Nimbus Sans"/>
                <a:ea typeface="Nimbus Sans"/>
                <a:cs typeface="Nimbus Sans"/>
              </a:rPr>
              <a:t>Pilot request: one suitable application and a developer to work with.</a:t>
            </a:r>
          </a:p>
        </p:txBody>
      </p:sp>
    </p:spTree>
    <p:extLst>
      <p:ext uri="{BB962C8B-B14F-4D97-AF65-F5344CB8AC3E}">
        <p14:creationId xmlns:p14="http://schemas.microsoft.com/office/powerpoint/2010/main" val="3937335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84A00D-99DA-4C65-9CE5-75360CACB850}"/>
              </a:ext>
            </a:extLst>
          </p:cNvPr>
          <p:cNvSpPr>
            <a:spLocks xmlns:a="http://schemas.openxmlformats.org/drawingml/2006/main" noGrp="1"/>
          </p:cNvSpPr>
          <p:nvPr/>
        </p:nvSpPr>
        <p:spPr>
          <a:xfrm xmlns:a="http://schemas.openxmlformats.org/drawingml/2006/main">
            <a:off x="609600" y="514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05B"/>
                </a:solidFill>
                <a:latin typeface="Nimbus Sans"/>
                <a:ea typeface="Nimbus Sans"/>
                <a:cs typeface="Nimbus Sans"/>
              </a:defRPr>
            </a:pPr>
            <a:r>
              <a:rPr sz="3300" b="1">
                <a:solidFill>
                  <a:srgbClr val="00205B"/>
                </a:solidFill>
                <a:latin typeface="Nimbus Sans"/>
                <a:ea typeface="Nimbus Sans"/>
                <a:cs typeface="Nimbus Sans"/>
              </a:rPr>
              <a:t>Optional detail: how we calculated it</a:t>
            </a:r>
          </a:p>
        </p:txBody>
      </p:sp>
      <p:sp>
        <p:nvSpPr>
          <p:cNvPr id="2" name="">
            <a:extLst xmlns:a="http://schemas.openxmlformats.org/drawingml/2006/main">
              <a:ext uri="{FF2B5EF4-FFF2-40B4-BE49-F238E27FC236}">
                <a16:creationId xmlns:a16="http://schemas.microsoft.com/office/drawing/2014/main" id="{DC9817D9-A539-4D31-AB5F-167B82DBD54B}"/>
              </a:ext>
            </a:extLst>
          </p:cNvPr>
          <p:cNvSpPr>
            <a:spLocks xmlns:a="http://schemas.openxmlformats.org/drawingml/2006/main" noGrp="1"/>
          </p:cNvSpPr>
          <p:nvPr/>
        </p:nvSpPr>
        <p:spPr>
          <a:xfrm xmlns:a="http://schemas.openxmlformats.org/drawingml/2006/main">
            <a:off x="609600" y="63341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Airbus EcoLens</a:t>
            </a:r>
          </a:p>
        </p:txBody>
      </p:sp>
      <p:sp>
        <p:nvSpPr>
          <p:cNvPr id="3" name="">
            <a:extLst xmlns:a="http://schemas.openxmlformats.org/drawingml/2006/main">
              <a:ext uri="{FF2B5EF4-FFF2-40B4-BE49-F238E27FC236}">
                <a16:creationId xmlns:a16="http://schemas.microsoft.com/office/drawing/2014/main" id="{5924D2BC-AED4-47E4-8C6D-E52D340047A5}"/>
              </a:ext>
            </a:extLst>
          </p:cNvPr>
          <p:cNvSpPr>
            <a:spLocks xmlns:a="http://schemas.openxmlformats.org/drawingml/2006/main" noGrp="1"/>
          </p:cNvSpPr>
          <p:nvPr/>
        </p:nvSpPr>
        <p:spPr>
          <a:xfrm xmlns:a="http://schemas.openxmlformats.org/drawingml/2006/main">
            <a:off x="111442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078"/>
                </a:solidFill>
                <a:latin typeface="Nimbus Sans"/>
                <a:ea typeface="Nimbus Sans"/>
                <a:cs typeface="Nimbus Sans"/>
              </a:defRPr>
            </a:pPr>
            <a:r>
              <a:rPr sz="1200" b="0">
                <a:solidFill>
                  <a:srgbClr val="506078"/>
                </a:solidFill>
                <a:latin typeface="Nimbus Sans"/>
                <a:ea typeface="Nimbus Sans"/>
                <a:cs typeface="Nimbus Sans"/>
              </a:rPr>
              <a:t>09</a:t>
            </a:r>
          </a:p>
        </p:txBody>
      </p:sp>
      <p:graphicFrame>
        <p:nvGraphicFramePr>
          <p:cNvPr id="10" name=""/>
          <p:cNvGraphicFramePr/>
          <p:nvPr/>
        </p:nvGraphicFramePr>
        <p:xfrm>
          <a:off xmlns:a="http://schemas.openxmlformats.org/drawingml/2006/main" x="666750" y="1476375"/>
          <a:ext xmlns:a="http://schemas.openxmlformats.org/drawingml/2006/main" cx="10820400" cy="3476625"/>
        </p:xfrm>
        <a:graphic xmlns:a="http://schemas.openxmlformats.org/drawingml/2006/main">
          <a:graphicData uri="http://schemas.openxmlformats.org/drawingml/2006/table">
            <a:tbl>
              <a:tblPr/>
              <a:tblGrid>
                <a:gridCol w="4191000"/>
                <a:gridCol w="6629400"/>
              </a:tblGrid>
              <a:tr h="695325">
                <a:tc>
                  <a:txBody>
                    <a:bodyPr/>
                    <a:lstStyle/>
                    <a:p>
                      <a:r>
                        <a:rPr sz="1875" b="1">
                          <a:solidFill>
                            <a:srgbClr val="FFFFFF"/>
                          </a:solidFill>
                          <a:latin typeface="Nimbus Sans"/>
                          <a:ea typeface="Nimbus Sans"/>
                          <a:cs typeface="Nimbus Sans"/>
                        </a:rPr>
                        <a:t>Input</a:t>
                      </a:r>
                    </a:p>
                  </a:txBody>
                  <a:tcPr marL="91440" marR="91440" marT="45720" marB="45720">
                    <a:solidFill>
                      <a:srgbClr val="00205B"/>
                    </a:solidFill>
                  </a:tcPr>
                </a:tc>
                <a:tc>
                  <a:txBody>
                    <a:bodyPr/>
                    <a:lstStyle/>
                    <a:p>
                      <a:r>
                        <a:rPr sz="1875" b="1">
                          <a:solidFill>
                            <a:srgbClr val="FFFFFF"/>
                          </a:solidFill>
                          <a:latin typeface="Nimbus Sans"/>
                          <a:ea typeface="Nimbus Sans"/>
                          <a:cs typeface="Nimbus Sans"/>
                        </a:rPr>
                        <a:t>Value used in this example</a:t>
                      </a:r>
                    </a:p>
                  </a:txBody>
                  <a:tcPr marL="91440" marR="91440" marT="45720" marB="45720">
                    <a:solidFill>
                      <a:srgbClr val="00205B"/>
                    </a:solidFill>
                  </a:tcPr>
                </a:tc>
              </a:tr>
              <a:tr h="695325">
                <a:tc>
                  <a:txBody>
                    <a:bodyPr/>
                    <a:lstStyle/>
                    <a:p>
                      <a:r>
                        <a:rPr sz="1800" b="1">
                          <a:solidFill>
                            <a:srgbClr val="005EB8"/>
                          </a:solidFill>
                          <a:latin typeface="Nimbus Sans"/>
                          <a:ea typeface="Nimbus Sans"/>
                          <a:cs typeface="Nimbus Sans"/>
                        </a:rPr>
                        <a:t>Measured</a:t>
                      </a:r>
                    </a:p>
                  </a:txBody>
                  <a:tcPr marL="91440" marR="91440" marT="45720" marB="45720">
                    <a:solidFill>
                      <a:srgbClr val="F0F5FA"/>
                    </a:solidFill>
                  </a:tcPr>
                </a:tc>
                <a:tc>
                  <a:txBody>
                    <a:bodyPr/>
                    <a:lstStyle/>
                    <a:p>
                      <a:r>
                        <a:rPr sz="1800" b="0">
                          <a:solidFill>
                            <a:srgbClr val="00205B"/>
                          </a:solidFill>
                          <a:latin typeface="Nimbus Sans"/>
                          <a:ea typeface="Nimbus Sans"/>
                          <a:cs typeface="Nimbus Sans"/>
                        </a:rPr>
                        <a:t>Average duration of a 10,000-request batch</a:t>
                      </a:r>
                    </a:p>
                  </a:txBody>
                  <a:tcPr marL="91440" marR="91440" marT="45720" marB="45720">
                    <a:solidFill>
                      <a:srgbClr val="F0F5FA"/>
                    </a:solidFill>
                  </a:tcPr>
                </a:tc>
              </a:tr>
              <a:tr h="695325">
                <a:tc>
                  <a:txBody>
                    <a:bodyPr/>
                    <a:lstStyle/>
                    <a:p>
                      <a:r>
                        <a:rPr sz="1800" b="1">
                          <a:solidFill>
                            <a:srgbClr val="005EB8"/>
                          </a:solidFill>
                          <a:latin typeface="Nimbus Sans"/>
                          <a:ea typeface="Nimbus Sans"/>
                          <a:cs typeface="Nimbus Sans"/>
                        </a:rPr>
                        <a:t>Assumed power</a:t>
                      </a:r>
                    </a:p>
                  </a:txBody>
                  <a:tcPr marL="91440" marR="91440" marT="45720" marB="45720">
                    <a:solidFill>
                      <a:srgbClr val="FFFFFF"/>
                    </a:solidFill>
                  </a:tcPr>
                </a:tc>
                <a:tc>
                  <a:txBody>
                    <a:bodyPr/>
                    <a:lstStyle/>
                    <a:p>
                      <a:r>
                        <a:rPr sz="1800" b="0">
                          <a:solidFill>
                            <a:srgbClr val="00205B"/>
                          </a:solidFill>
                          <a:latin typeface="Nimbus Sans"/>
                          <a:ea typeface="Nimbus Sans"/>
                          <a:cs typeface="Nimbus Sans"/>
                        </a:rPr>
                        <a:t>10 watts while the batch runs</a:t>
                      </a:r>
                    </a:p>
                  </a:txBody>
                  <a:tcPr marL="91440" marR="91440" marT="45720" marB="45720">
                    <a:solidFill>
                      <a:srgbClr val="FFFFFF"/>
                    </a:solidFill>
                  </a:tcPr>
                </a:tc>
              </a:tr>
              <a:tr h="695325">
                <a:tc>
                  <a:txBody>
                    <a:bodyPr/>
                    <a:lstStyle/>
                    <a:p>
                      <a:r>
                        <a:rPr sz="1800" b="1">
                          <a:solidFill>
                            <a:srgbClr val="005EB8"/>
                          </a:solidFill>
                          <a:latin typeface="Nimbus Sans"/>
                          <a:ea typeface="Nimbus Sans"/>
                          <a:cs typeface="Nimbus Sans"/>
                        </a:rPr>
                        <a:t>Assumed electricity factor</a:t>
                      </a:r>
                    </a:p>
                  </a:txBody>
                  <a:tcPr marL="91440" marR="91440" marT="45720" marB="45720">
                    <a:solidFill>
                      <a:srgbClr val="F0F5FA"/>
                    </a:solidFill>
                  </a:tcPr>
                </a:tc>
                <a:tc>
                  <a:txBody>
                    <a:bodyPr/>
                    <a:lstStyle/>
                    <a:p>
                      <a:r>
                        <a:rPr sz="1800" b="0">
                          <a:solidFill>
                            <a:srgbClr val="00205B"/>
                          </a:solidFill>
                          <a:latin typeface="Nimbus Sans"/>
                          <a:ea typeface="Nimbus Sans"/>
                          <a:cs typeface="Nimbus Sans"/>
                        </a:rPr>
                        <a:t>400 gCO₂e per kWh</a:t>
                      </a:r>
                    </a:p>
                  </a:txBody>
                  <a:tcPr marL="91440" marR="91440" marT="45720" marB="45720">
                    <a:solidFill>
                      <a:srgbClr val="F0F5FA"/>
                    </a:solidFill>
                  </a:tcPr>
                </a:tc>
              </a:tr>
              <a:tr h="695325">
                <a:tc>
                  <a:txBody>
                    <a:bodyPr/>
                    <a:lstStyle/>
                    <a:p>
                      <a:r>
                        <a:rPr sz="1800" b="1">
                          <a:solidFill>
                            <a:srgbClr val="005EB8"/>
                          </a:solidFill>
                          <a:latin typeface="Nimbus Sans"/>
                          <a:ea typeface="Nimbus Sans"/>
                          <a:cs typeface="Nimbus Sans"/>
                        </a:rPr>
                        <a:t>Calculation</a:t>
                      </a:r>
                    </a:p>
                  </a:txBody>
                  <a:tcPr marL="91440" marR="91440" marT="45720" marB="45720">
                    <a:solidFill>
                      <a:srgbClr val="FFFFFF"/>
                    </a:solidFill>
                  </a:tcPr>
                </a:tc>
                <a:tc>
                  <a:txBody>
                    <a:bodyPr/>
                    <a:lstStyle/>
                    <a:p>
                      <a:r>
                        <a:rPr sz="1800" b="0">
                          <a:solidFill>
                            <a:srgbClr val="00205B"/>
                          </a:solidFill>
                          <a:latin typeface="Nimbus Sans"/>
                          <a:ea typeface="Nimbus Sans"/>
                          <a:cs typeface="Nimbus Sans"/>
                        </a:rPr>
                        <a:t>Power × duration × electricity factor, per 1,000 requests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BEE2E78-A211-4CDE-BC0D-692E10932DB0}"/>
              </a:ext>
            </a:extLst>
          </p:cNvPr>
          <p:cNvSpPr>
            <a:spLocks xmlns:a="http://schemas.openxmlformats.org/drawingml/2006/main" noGrp="1"/>
          </p:cNvSpPr>
          <p:nvPr/>
        </p:nvSpPr>
        <p:spPr>
          <a:xfrm xmlns:a="http://schemas.openxmlformats.org/drawingml/2006/main">
            <a:off x="666750" y="52292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0205B"/>
                </a:solidFill>
                <a:latin typeface="Nimbus Sans"/>
                <a:ea typeface="Nimbus Sans"/>
                <a:cs typeface="Nimbus Sans"/>
              </a:defRPr>
            </a:pPr>
            <a:r>
              <a:rPr sz="1800" b="0">
                <a:solidFill>
                  <a:srgbClr val="00205B"/>
                </a:solidFill>
                <a:latin typeface="Nimbus Sans"/>
                <a:ea typeface="Nimbus Sans"/>
                <a:cs typeface="Nimbus Sans"/>
              </a:rPr>
              <a:t>Both versions use the same assumptions. CPU time is not an energy measurement.</a:t>
            </a:r>
          </a:p>
        </p:txBody>
      </p:sp>
      <p:sp>
        <p:nvSpPr>
          <p:cNvPr id="6" name="">
            <a:extLst xmlns:a="http://schemas.openxmlformats.org/drawingml/2006/main">
              <a:ext uri="{FF2B5EF4-FFF2-40B4-BE49-F238E27FC236}">
                <a16:creationId xmlns:a16="http://schemas.microsoft.com/office/drawing/2014/main" id="{7CF2E99F-2150-4C3C-BBED-6FD315317130}"/>
              </a:ext>
            </a:extLst>
          </p:cNvPr>
          <p:cNvSpPr>
            <a:spLocks xmlns:a="http://schemas.openxmlformats.org/drawingml/2006/main" noGrp="1"/>
          </p:cNvSpPr>
          <p:nvPr/>
        </p:nvSpPr>
        <p:spPr>
          <a:xfrm xmlns:a="http://schemas.openxmlformats.org/drawingml/2006/main">
            <a:off x="666750" y="58197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078"/>
                </a:solidFill>
                <a:latin typeface="Nimbus Sans"/>
                <a:ea typeface="Nimbus Sans"/>
                <a:cs typeface="Nimbus Sans"/>
              </a:defRPr>
            </a:pPr>
            <a:r>
              <a:rPr sz="1500" b="0">
                <a:solidFill>
                  <a:srgbClr val="506078"/>
                </a:solidFill>
                <a:latin typeface="Nimbus Sans"/>
                <a:ea typeface="Nimbus Sans"/>
                <a:cs typeface="Nimbus Sans"/>
              </a:rPr>
              <a:t>Excludes startup, idle time outside the test, network, cooling and hardware manufacture.</a:t>
            </a:r>
          </a:p>
        </p:txBody>
      </p:sp>
    </p:spTree>
    <p:extLst>
      <p:ext uri="{BB962C8B-B14F-4D97-AF65-F5344CB8AC3E}">
        <p14:creationId xmlns:p14="http://schemas.microsoft.com/office/powerpoint/2010/main" val="1470554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2026-10-05T02:51:15.4420000Z</dcterms:created>
  <dcterms:modified xsi:type="dcterms:W3CDTF">2026-10-05T02:51:15.4420000Z</dcterms:modified>
</coreProperties>
</file>